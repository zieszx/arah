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Alumni</c:v>
                </c:pt>
              </c:strCache>
            </c:strRef>
          </c:tx>
          <c:spPr>
            <a:solidFill>
              <a:srgbClr val="B0A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Humanities</c:v>
                  </c:pt>
                  <c:pt idx="1">
                    <c:v>Creative Art</c:v>
                  </c:pt>
                  <c:pt idx="2">
                    <c:v>Science &amp; Mathematics</c:v>
                  </c:pt>
                  <c:pt idx="3">
                    <c:v>Law</c:v>
                  </c:pt>
                  <c:pt idx="4">
                    <c:v>Media &amp; Communication</c:v>
                  </c:pt>
                  <c:pt idx="5">
                    <c:v>Health &amp; Medical</c:v>
                  </c:pt>
                  <c:pt idx="6">
                    <c:v>Architecture</c:v>
                  </c:pt>
                  <c:pt idx="7">
                    <c:v>Engineering</c:v>
                  </c:pt>
                  <c:pt idx="8">
                    <c:v>Computer Science &amp; Data</c:v>
                  </c:pt>
                  <c:pt idx="9">
                    <c:v>Business &amp; Management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16</c:v>
                </c:pt>
                <c:pt idx="3">
                  <c:v>16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23</c:v>
                </c:pt>
                <c:pt idx="8">
                  <c:v>35</c:v>
                </c:pt>
                <c:pt idx="9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satisfaction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Engineering</c:v>
                  </c:pt>
                  <c:pt idx="1">
                    <c:v>Architecture</c:v>
                  </c:pt>
                  <c:pt idx="2">
                    <c:v>Health &amp; Medical</c:v>
                  </c:pt>
                  <c:pt idx="3">
                    <c:v>Computer Science &amp; Data</c:v>
                  </c:pt>
                  <c:pt idx="4">
                    <c:v>Law</c:v>
                  </c:pt>
                  <c:pt idx="5">
                    <c:v>Humanities</c:v>
                  </c:pt>
                  <c:pt idx="6">
                    <c:v>Business &amp; Management</c:v>
                  </c:pt>
                  <c:pt idx="7">
                    <c:v>Science &amp; Mathematics</c:v>
                  </c:pt>
                  <c:pt idx="8">
                    <c:v>Creative Art</c:v>
                  </c:pt>
                  <c:pt idx="9">
                    <c:v>Media &amp; Communication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2.83</c:v>
                </c:pt>
                <c:pt idx="1">
                  <c:v>3.25</c:v>
                </c:pt>
                <c:pt idx="2">
                  <c:v>3.37</c:v>
                </c:pt>
                <c:pt idx="3">
                  <c:v>3.49</c:v>
                </c:pt>
                <c:pt idx="4">
                  <c:v>3.56</c:v>
                </c:pt>
                <c:pt idx="5">
                  <c:v>3.71</c:v>
                </c:pt>
                <c:pt idx="6">
                  <c:v>3.73</c:v>
                </c:pt>
                <c:pt idx="7">
                  <c:v>3.88</c:v>
                </c:pt>
                <c:pt idx="8">
                  <c:v>4</c:v>
                </c:pt>
                <c:pt idx="9">
                  <c:v>4.61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Field related to stream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</c:v>
                </c:pt>
                <c:pt idx="2">
                  <c:v>8</c:v>
                </c:pt>
                <c:pt idx="3">
                  <c:v>27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Field not related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11</c:v>
                </c:pt>
                <c:pt idx="2">
                  <c:v>9</c:v>
                </c:pt>
                <c:pt idx="3">
                  <c:v>36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625D7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25D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35305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 A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students who have to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choose, with no way to compare.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technical overview — framework, data, descriptive and predictive analysis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480560"/>
            <a:ext cx="384048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27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 ·  React 19  ·  Python 3.13  ·  scikit-learn  ·  Supabase Postgres  ·  Vercel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074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and what it is for.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Malaysian student leaving SPM picks a field with almost nothing to compare against — a prospectus, a family opinion, and whatever their friends are doing. Nobody tells them what students like them actually went on to do, or whether they were glad of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46120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246120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ARAH 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72160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pathway finder. Ten questions, matched against 207 real SPM leavers who already made the choice — returning the fields students with similar answers entered, the sample behind each, and how satisfied those students were.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736592"/>
            <a:ext cx="4846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736592"/>
            <a:ext cx="50292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873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521208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Turn real outcomes into a comparison a student can act on.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Rank fields by evidence, and show the sample behind each.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Publish the uncertainty, and nothing where the data is thin.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Protect the 207 teenagers whose answers make it work.</a:t>
            </a:r>
            <a:endParaRPr lang="en-US" sz="1000" dirty="0"/>
          </a:p>
        </p:txBody>
      </p:sp>
      <p:pic>
        <p:nvPicPr>
          <p:cNvPr id="19" name="Image 0" descr="arah-sand.vercel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2" y="1755648"/>
            <a:ext cx="5486400" cy="32575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25312" y="507720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 end to end. Browsing needs no account; saving a result does.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STUDENT USES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steps, about three minutes.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50292" cy="17007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questions about results, subjects, interests, and how they like to work.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7288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7288" y="1783080"/>
            <a:ext cx="50292" cy="17007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21608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21608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207 real Malaysian SPM leavers who already made the choice.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657600"/>
            <a:ext cx="50292" cy="17007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51560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ordered by fit, each with a confidence level and the sample it rests 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7288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47288" y="3657600"/>
            <a:ext cx="50292" cy="17007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721608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21608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students chose, how satisfied they were, and the advice they left.</a:t>
            </a:r>
            <a:endParaRPr lang="en-US" sz="1150" dirty="0"/>
          </a:p>
        </p:txBody>
      </p:sp>
      <p:pic>
        <p:nvPicPr>
          <p:cNvPr id="27" name="Image 0" descr="A stored result — /results/&lt;id&gt;, never recompu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5102352" cy="36758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09360" y="552297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stored result — /results/&lt;id&gt;, never recomputed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written once and read back. A student returning to the same link sees the same three fields, not a fresh roll of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FRAMEWORK AND DATA OVERVIEW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standard method, applied to one survey.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75564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8379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understanding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64408" y="175564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needs at the point of choosing — a comparison, not advice.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2468880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468880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2"/>
          <p:cNvSpPr/>
          <p:nvPr/>
        </p:nvSpPr>
        <p:spPr>
          <a:xfrm>
            <a:off x="978408" y="24688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51176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64408" y="246888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of 207 SPM leavers: ten answers each, the field they entered, and how satisfied they are.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182112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182112"/>
            <a:ext cx="50292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" y="31821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32644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64408" y="31821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then a 55-slot one-hot encoding. One encoder in Python, a mirror in JavaScript, pinned by fixture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895344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895344"/>
            <a:ext cx="50292" cy="65836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8953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4408" y="3895344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scikit-learn classifiers — KNN, logistic regression, random forest, Bernoulli naive Bayes — combined by soft voting.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4608576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4608576"/>
            <a:ext cx="50292" cy="658368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69087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64408" y="4608576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under repeated stratified cross-validation: five folds, five repeats. Never a single split.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7240" y="532180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21808"/>
            <a:ext cx="50292" cy="658368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" y="53218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25880" y="54041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64408" y="532180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Python service on Vercel behind the Next.js app, with the artefacts committed alongside the code.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20840" y="1755648"/>
            <a:ext cx="4693615" cy="12801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95160" y="184708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167128"/>
            <a:ext cx="4144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responses · 10 fields of study · 5 pre-U routes · satisfaction 1–5 · free-text advice. One Google Forms export, no third-party dataset. National MoHE enrolment figures are cited as context and never used as training rows.</a:t>
            </a:r>
            <a:endParaRPr lang="en-US" sz="1100" dirty="0"/>
          </a:p>
        </p:txBody>
      </p:sp>
      <p:pic>
        <p:nvPicPr>
          <p:cNvPr id="40" name="Image 0" descr="/admin/survey-data — the corpus the model re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3145536"/>
            <a:ext cx="3840480" cy="267163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141464" y="588118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/admin/survey-data — the corpus the model reads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ml/train.py reads ml/data/survey.csv and nothing else. Every descriptive figure in the next three slides comes from decks/describe_corpus.py, reading that same file.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TECHNIQUES USED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 built from.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75564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5564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(JSX) · Python 3.13 ·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75564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TypeScript, by request — JSX throughout.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223113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23113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16.2 App Router · React 19.2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23113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by default; client code only where the browser is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06624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8408" y="270662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70662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 v4 · shadcn/ui · Radix · PrimeReact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70662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CSS-first @theme configuration — v4 has no tailwind.config.js.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182112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GSAP · Motion · Lenis · custom canvas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3182112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animation gated on prefers-reduced-motion.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" y="3657600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 · NumPy · pandas · Joblib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365760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is training-only and deliberately absent from the deployed service.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413308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13308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 Postgres · Row Level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413308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live in the database, not only in application code.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608576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60857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460857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 set on public pages and in the admin console.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508406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508406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 · pytest · ESLint · Playwright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508406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 JavaScript tests and 36 Python tests; 12 of them need production credentials.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687568"/>
            <a:ext cx="10637215" cy="100584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5797296"/>
            <a:ext cx="10051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9848" y="6108192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over the corpus · one-hot encoding into 55 features · four-classifier soft-voting ensemble · repeated stratified cross-validation, five folds and five repeats · marginalisation over the unknown pre-U route · k-anonymity suppression, count banding and refresh gating on everything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runtimes, one deployment.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74920" y="1664208"/>
            <a:ext cx="6339535" cy="132588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01368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two services?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49240" y="2121408"/>
            <a:ext cx="5790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cannot run scikit-learn, and rewriting the model in JavaScript would mean two implementations to keep in step. Vercel Services runs both from one repository and one deploy.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35661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66420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18105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interface, client-side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animated canvas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9300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service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Server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route handlers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349300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service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ASGI app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ensemble loaded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model.joblib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3493008"/>
            <a:ext cx="259049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34930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363931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98280" y="4005072"/>
            <a:ext cx="2041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migrations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35808"/>
            <a:ext cx="0" cy="41148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vercel.json routes /api/ml/* to the Python runtime; every other path goes to Next.js.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request,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224942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63440" y="17739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answers ten questions. Answers are validated in the browser against the same feature spec the model uses.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6700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07238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2651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/api/questions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259689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Next.js route handler authenticates the session and writes the raw answers to quiz_responses.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60120" y="389534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341985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become a 55-feature vector. One encoder in Python, a mirror in JavaScript, held in step by fixture tests.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471830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297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/api/ml/predict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663440" y="424281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Rewritten to the Python service. The ensemble votes and returns a ranked probability for every field.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5138928"/>
            <a:ext cx="384048" cy="384048"/>
          </a:xfrm>
          <a:prstGeom prst="ellipse">
            <a:avLst/>
          </a:prstGeom>
          <a:solidFill>
            <a:srgbClr val="3A93A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554126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506577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is joined to its published statistics — sample size, satisfaction, confidence tier.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5961888"/>
            <a:ext cx="384048" cy="384048"/>
          </a:xfrm>
          <a:prstGeom prst="ellipse">
            <a:avLst/>
          </a:prstGeom>
          <a:solidFill>
            <a:srgbClr val="1F7A5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417320" y="5943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and redirect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663440" y="58887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result is written to predictions; the student lands on /results/&lt;id&gt;. It is never recomputed.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actually chose.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classes are not balanced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Management carries 44 students; Humanities carries 7. A model trained on this has far more to say about some fields than others, which is why the ensemble carries a naive Bayes term and the interface always prints the sample size.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37160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fields publish nothing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fall below the k = 10 threshold. Their pages say so in plain words rather than showing a statistic drawn from single figures — the grey bars on the left.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949440" y="4754880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949440" y="4919472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 public school · 51 boarding · 29 private · 18 religious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49440" y="5193792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PRE-U ROUTES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949440" y="5358384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Diploma 73 · Foundation 52 · A-Levels 42 · Matriculation 31 · STPM 9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949440" y="5632704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 RESULTS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949440" y="5797296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at 6–8 As · 59 at 3–5 As · 58 at 9+ As · 25 at 1–2 As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207 · generated by decks/describe_corpus.py from ml/data/survey.csv — the same file ml/train.py reads.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students ended up glad of it.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spread is wide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5, with 100% rating themselves 4 or 5. Engineering averages 2.83, with 39%. A ranked shortlist that left satisfaction out would treat those two as the same result.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2801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product publishes 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carries average satisfaction and the share who ended up dissatisfied, next to the percentage — so a high match with an unhappy cohort reads as exactly that.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4645152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949440" y="4645152"/>
            <a:ext cx="50292" cy="128016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782312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grey bars are not published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223760" y="5120640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are shown here for completeness. In the product both pages publish no statistics at all — the same k = 10 rule that governs every figure on the site.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1–5 self-rating, computed by decks/describe_corpus.py over all 207 rows.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staying in your SPM stream make you happier?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55648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9377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Self-rated satisfaction, 1 to 5 — share of each group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5321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 is the outlier on the right — median 2 against 4 for every other route, on 31 students. Reported as an observation, not a claim: at that sample it is not separable from noise.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0" y="1755648"/>
            <a:ext cx="501365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1847088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spread by pre-U route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75120" y="2130552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the middle half, line is the median, whisker is the full range.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82128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78342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6" name="Text 13"/>
          <p:cNvSpPr/>
          <p:nvPr/>
        </p:nvSpPr>
        <p:spPr>
          <a:xfrm>
            <a:off x="8568614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474556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8" name="Text 15"/>
          <p:cNvSpPr/>
          <p:nvPr/>
        </p:nvSpPr>
        <p:spPr>
          <a:xfrm>
            <a:off x="9364828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270769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0" name="Text 17"/>
          <p:cNvSpPr/>
          <p:nvPr/>
        </p:nvSpPr>
        <p:spPr>
          <a:xfrm>
            <a:off x="10161041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1066983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2" name="Text 19"/>
          <p:cNvSpPr/>
          <p:nvPr/>
        </p:nvSpPr>
        <p:spPr>
          <a:xfrm>
            <a:off x="10957255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675120" y="247802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675120" y="26517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n=73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882128" y="264993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6" name="Shape 23"/>
          <p:cNvSpPr/>
          <p:nvPr/>
        </p:nvSpPr>
        <p:spPr>
          <a:xfrm>
            <a:off x="7871155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7" name="Shape 24"/>
          <p:cNvSpPr/>
          <p:nvPr/>
        </p:nvSpPr>
        <p:spPr>
          <a:xfrm>
            <a:off x="11056010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8" name="Shape 25"/>
          <p:cNvSpPr/>
          <p:nvPr/>
        </p:nvSpPr>
        <p:spPr>
          <a:xfrm>
            <a:off x="9474556" y="255574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250653" y="251917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88950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675120" y="30632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n=52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882128" y="306141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3" name="Shape 30"/>
          <p:cNvSpPr/>
          <p:nvPr/>
        </p:nvSpPr>
        <p:spPr>
          <a:xfrm>
            <a:off x="7871155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4" name="Shape 31"/>
          <p:cNvSpPr/>
          <p:nvPr/>
        </p:nvSpPr>
        <p:spPr>
          <a:xfrm>
            <a:off x="11056010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5" name="Shape 32"/>
          <p:cNvSpPr/>
          <p:nvPr/>
        </p:nvSpPr>
        <p:spPr>
          <a:xfrm>
            <a:off x="10270769" y="2967228"/>
            <a:ext cx="796214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0653" y="293065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/>
          <p:nvPr/>
        </p:nvSpPr>
        <p:spPr>
          <a:xfrm>
            <a:off x="6675120" y="330098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A-Levels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75120" y="34747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n=42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7882128" y="347289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0" name="Shape 37"/>
          <p:cNvSpPr/>
          <p:nvPr/>
        </p:nvSpPr>
        <p:spPr>
          <a:xfrm>
            <a:off x="7871155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56010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2" name="Shape 39"/>
          <p:cNvSpPr/>
          <p:nvPr/>
        </p:nvSpPr>
        <p:spPr>
          <a:xfrm>
            <a:off x="9474556" y="337870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250653" y="334213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75120" y="37124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675120" y="3886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n=31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882128" y="388437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7" name="Shape 44"/>
          <p:cNvSpPr/>
          <p:nvPr/>
        </p:nvSpPr>
        <p:spPr>
          <a:xfrm>
            <a:off x="7871155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8" name="Shape 45"/>
          <p:cNvSpPr/>
          <p:nvPr/>
        </p:nvSpPr>
        <p:spPr>
          <a:xfrm>
            <a:off x="11056010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9" name="Shape 46"/>
          <p:cNvSpPr/>
          <p:nvPr/>
        </p:nvSpPr>
        <p:spPr>
          <a:xfrm>
            <a:off x="7882128" y="3790188"/>
            <a:ext cx="2388641" cy="21031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50" name="Shape 47"/>
          <p:cNvSpPr/>
          <p:nvPr/>
        </p:nvSpPr>
        <p:spPr>
          <a:xfrm>
            <a:off x="8658225" y="375361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6675120" y="412394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STPM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7512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n=9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882128" y="429585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4" name="Shape 51"/>
          <p:cNvSpPr/>
          <p:nvPr/>
        </p:nvSpPr>
        <p:spPr>
          <a:xfrm>
            <a:off x="7871155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6010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6" name="Shape 53"/>
          <p:cNvSpPr/>
          <p:nvPr/>
        </p:nvSpPr>
        <p:spPr>
          <a:xfrm>
            <a:off x="8678342" y="4201668"/>
            <a:ext cx="2388641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7" name="Shape 54"/>
          <p:cNvSpPr/>
          <p:nvPr/>
        </p:nvSpPr>
        <p:spPr>
          <a:xfrm>
            <a:off x="10250653" y="416509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0" y="4882896"/>
            <a:ext cx="50136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4882896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0" name="Text 57"/>
          <p:cNvSpPr/>
          <p:nvPr/>
        </p:nvSpPr>
        <p:spPr>
          <a:xfrm>
            <a:off x="6675120" y="50200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 is not the answer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6675120" y="5358384"/>
            <a:ext cx="446501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whose field matched their SPM stream average 3.45 of 5 (n=122); those who switched average 3.80 (n=85). Following the stream is not what makes people glad of the choice — which is why the model matches on the whole answer set, not the stream alone.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ten answers to a ranked list.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7863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75564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 answers become a 55-number vector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a student can pick becomes one slot, set to 1 if they picked it. "Science stream" is one slot, "enjoys maths" another. The 1-5 comfort scale is scaled into the same range so no single answer dominates by virtue of being a bigger number.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2432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624328"/>
            <a:ext cx="50292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62432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Compare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26243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all 207 encoded alumni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262432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encoding was applied to every alumnus, so a student and an alumnus are directly comparable — 55 numbers against 55 numbers. This is what makes "students like you" a measurement rather than a figure of speech.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493008"/>
            <a:ext cx="50292" cy="7863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93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Vote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4930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models each score every field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23560" y="349300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Nearest-neighbours asks who answered most like you. Regression asks which answers historically pointed where. The forest looks for combinations. Naive Bayes steadies thin classes. Each returns a probability per field; the four are averaged.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61688"/>
            <a:ext cx="50292" cy="7863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61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Marginalise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pre-U route is averaged, not guessed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436168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has not chosen a pre-U route yet is predicted once for every route, and the results are averaged weighted by how common each route is. Nothing is invented on their behalf — the uncertainty is carried through instead of hidden.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30368"/>
            <a:ext cx="50292" cy="78638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230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Rank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31720" y="523036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Sorted, with the sample behind each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523036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ordered by probability. Each carries the number of alumni it rests on, so a 20% match built on 44 students is visibly different from one built on 11.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rule someone wrote down. Every relationship in the model was learned from what 207 real students actually did.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algorithms vote. None decides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2606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Neighbours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15, cosine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students who answered most like you.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48456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755648"/>
            <a:ext cx="50292" cy="2606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922776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22776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 classes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22776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single answers push toward which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22776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19672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755648"/>
            <a:ext cx="50292" cy="26060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793992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793992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trees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combinations — results and subject and temperament.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3992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0888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90888" y="1755648"/>
            <a:ext cx="50292" cy="26060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7" name="Text 25"/>
          <p:cNvSpPr/>
          <p:nvPr/>
        </p:nvSpPr>
        <p:spPr>
          <a:xfrm>
            <a:off x="9665208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Bernoulli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65208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65208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Steadies the vote where a field has few examples.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65208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681728"/>
            <a:ext cx="10637215" cy="10515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" y="48188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voting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69848" y="513892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returns a probability per field, and the four are averaged by weight. A model that is confidently wrong gets outvoted — which is the point. Scored with repeated stratified cross-validation: five folds, five repeats, never a single split.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model, run by hand.</a:t>
            </a:r>
            <a:endParaRPr lang="en-US" sz="3200" dirty="0"/>
          </a:p>
        </p:txBody>
      </p:sp>
      <p:pic>
        <p:nvPicPr>
          <p:cNvPr id="7" name="Image 0" descr="/admin/algorithm-tester — posted to the live ML service, nothing sto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309360" cy="3652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472443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/admin/algorithm-tester — posted to the live ML service, nothing stored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1755648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1892808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80960" y="2231136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posts to the same /api/ml/predict endpoint the questions page uses, and prints the raw ranked probabilities before the interface rounds or annotates anything.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3200400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3200400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0" y="3337560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shape of a real answer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80960" y="3675888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technical-stream preset returns Computer Science at 68%, Business at 19%, then a long tail under 5%. The top three carry the mass; the rest is reported as near-zero rather than padded.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4645152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406640" y="4645152"/>
            <a:ext cx="50292" cy="13258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0" y="4782312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and it says so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5120640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on the output records that no pre-U route was given, so the prediction is an average across all five routes, weighted by how common each is, rather than a guess at which one the student will take.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 is stamped on every run. A prediction made against an older artefact can be told apart from one made after a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in plain terms.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comparison, not a verdict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“students who answered like you most often chose this”. The model has no opinion about what anyone should do, and the interface never phrases it as advice.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272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classification, not a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aptitude number and no ranking of students. The model picks among ten fields; it never rates the person.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4988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Top-3, because that is the honest unit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answer would overstate the certainty available from 207 people. Three keeps the shortlist useful and truthful.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758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7580" y="17556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1190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personality 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190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about character. The questions ask what someone did and what they enjoy, and the answers are matched to outcomes.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3758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7580" y="31272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651190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prediction of success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1190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says where similar students went, not how well anyone will do there. It has no data on outcomes beyond satisfaction.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3758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44988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substitute for a counsellor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1190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starting shortlist backed by evidence, meant to inform a conversation rather than replace one.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boundaries is enforced in the product copy, not just stated here — the results page never uses the word “should”.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ENGINEERING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207 teenagers. It is treated that way.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k-anonymity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175564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with fewer than 10 students publishes no statistics at all. It says so plainly rather than showing a number.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68880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468880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banding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appear as ranges — 10 to 19, 20 to 49 — never exact counts, so two pages cannot be subtracted.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82112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182112"/>
            <a:ext cx="50292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182112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Refresh gating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16936" y="31821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aggregates only move once at least three rows have changed, closing the temporal-differencing attack.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95344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95344"/>
            <a:ext cx="50292" cy="6949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95344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16936" y="389534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 read only their own responses, enforced in Postgres — so an application bug cannot leak the rest.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4608576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608576"/>
            <a:ext cx="50292" cy="69494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608576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Locked at the grant layer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16936" y="460857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routes are guarded in the app and the tables are locked by database privilege. One is convenience; the other is the control.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532180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21808"/>
            <a:ext cx="50292" cy="69494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32180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account is theirs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916936" y="532180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password are the student’s to change, and deleting the account removes the responses and predictions.</a:t>
            </a:r>
            <a:endParaRPr lang="en-US" sz="950" dirty="0"/>
          </a:p>
        </p:txBody>
      </p:sp>
      <p:pic>
        <p:nvPicPr>
          <p:cNvPr id="31" name="Image 0" descr="/explore/humanities-social-sciences — 7 students, so nothing is publish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55648"/>
            <a:ext cx="3977640" cy="37258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86600" y="5545547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/explore/humanities-social-sciences — 7 students, so nothing is published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 and the refresh gate each have a test that fails if a published number becomes more precise than it should be.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sections, behind a role flag.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175564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counts, recent activity, and where students drop off.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23160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24231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Charts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summarised as a distribution, Google-Forms style.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090672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309067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74720" y="30906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the model learns from, searchable and sortable.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58184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58184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9848" y="375818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Responses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74720" y="37581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with the prediction it produced, opened row by row.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425696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425696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69848" y="442569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474720" y="44256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display names and who has admin access.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09320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9320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1069848" y="509320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Tester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474720" y="509320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answers by hand and watch the model rank them live.</a:t>
            </a:r>
            <a:endParaRPr lang="en-US" sz="1050" dirty="0"/>
          </a:p>
        </p:txBody>
      </p:sp>
      <p:pic>
        <p:nvPicPr>
          <p:cNvPr id="31" name="Image 0" descr="/admin/response-ch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55648"/>
            <a:ext cx="3776472" cy="262711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35240" y="4446767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/admin/response-charts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4754880"/>
            <a:ext cx="3779215" cy="1572768"/>
          </a:xfrm>
          <a:prstGeom prst="rect">
            <a:avLst/>
          </a:prstGeom>
          <a:solidFill>
            <a:srgbClr val="1B1830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927848" y="4882896"/>
            <a:ext cx="3193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control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927848" y="5212080"/>
            <a:ext cx="319399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a discreet Admin button in the site footer — present for an admin, absent from the page entirely for everyone else, not merely hidden with CSS. Verified against production: the demo student account is redirected away from every admin route.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VERIFICATION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actually been proven.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tests passing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48456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755648"/>
            <a:ext cx="50292" cy="1325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922776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22776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tests passing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19672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1755648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93992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106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793992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0888" y="1755648"/>
            <a:ext cx="50292" cy="13258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9665208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66520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 parity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5156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tests pin the JavaScript encoder to the Python one, so the browser and the model can never disagree about what a student said.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758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boundaries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1190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banding, and the refresh gate each have tests that fail if a published number becomes more precise than it should be.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separation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5156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13 tests drive the real production site. They are skipped, not silently passed, when no production credentials are present.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758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3758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190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journey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51190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through to a stored result, driven in a real browser.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 rather than trust: npm test · python -m pytest · ls supabase/migrations/*.sql. 382 JavaScript tests are defined; 370 run without production credentials.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and the model actually showed.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7830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 is uneven, and the product admits 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counts run from 44 down to 7. Two fields sit below the k = 10 threshold and publish nothing at all rather than a statistic drawn from single figures.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is not uniform, so it is published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64024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 (100% rating 4 or 5); Engineering averages 2.83 (39%). Every match carries its own satisfaction figure next to the percentage.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Staying in your SPM stream does not predict 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76488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3.45 of 5 against unrelated 3.80. The stream alone is a poor guide, which is why the model matches on all ten answers rather than routing by stream.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21608"/>
            <a:ext cx="50292" cy="17830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is measured, not advertised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is 71.5% with a stated pre-U route and 63.7% without, by repeated stratified cross-validation. Both are re-runnable from ml/measure_paths.py; neither is published in the product.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7216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unit is three fields, not 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64024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207 the confidence interval is about six points. A single named field would claim a precision the sample cannot support.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721608"/>
            <a:ext cx="50292" cy="17830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published number is traceable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figures come from decks/describe_corpus.py, accuracy from ml/measure_paths.py, counts from the test runners — all committed, all re-runnable.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descriptive findings above are what justify the design decisions on the previous slides — they were not written to fit them.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cannot yet tell us.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the corpus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the binding constraint on everything else. At roughly a thousand rows the two suppressed fields become publishable and the confidence interval narrows from about six 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the retrain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4024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gate exists because a small batch can move accuracy by more than the noise floor. Once the corpus is large enough that it cannot, the export-refit-redeploy chain can run unattended.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691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beyond satisfaction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knows whether a student is glad of the choice, and nothing about employment, earnings or time to graduate. Those are the questions students ask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30168"/>
            <a:ext cx="50292" cy="16916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Widen the questions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location are the two reasons students give for a choice that the current ten questions do not capture at all.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630168"/>
            <a:ext cx="50292" cy="169164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same 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64024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was captured once. Re-asking a year on would show whether it holds, and would turn a snapshot into a trend.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630168"/>
            <a:ext cx="50292" cy="16916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evaluation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76488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measures the model against its own corpus. A held-out cohort from a different intake year would measure it against the world.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list is blocked by the architecture. Every one of them is waiting on more students answering the same ten questions.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DEFENSIBLE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says “students like you chose this.”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say “you should study this.”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3621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3520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is a rule someone wrote down — every relationship was learned from what 207 real students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412394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40233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too few students show an honest message, never an invented statistic.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62686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screen can be traced back to the students it came from.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5257800"/>
            <a:ext cx="3840480" cy="182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ARAH - System and Technical Overview</dc:title>
  <dc:subject>PptxGenJS Presentation</dc:subject>
  <dc:creator>Nuhaa Khaleeda Binti Mohd Khalid</dc:creator>
  <cp:lastModifiedBy>Nuhaa Khaleeda Binti Mohd Khalid</cp:lastModifiedBy>
  <cp:revision>1</cp:revision>
  <dcterms:created xsi:type="dcterms:W3CDTF">2026-08-01T08:28:46Z</dcterms:created>
  <dcterms:modified xsi:type="dcterms:W3CDTF">2026-08-01T08:28:46Z</dcterms:modified>
</cp:coreProperties>
</file>