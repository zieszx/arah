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Alumni</c:v>
                </c:pt>
              </c:strCache>
            </c:strRef>
          </c:tx>
          <c:spPr>
            <a:solidFill>
              <a:srgbClr val="B0AA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B2E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0AA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0AAC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Humanities</c:v>
                  </c:pt>
                  <c:pt idx="1">
                    <c:v>Creative Art</c:v>
                  </c:pt>
                  <c:pt idx="2">
                    <c:v>Science &amp; Mathematics</c:v>
                  </c:pt>
                  <c:pt idx="3">
                    <c:v>Law</c:v>
                  </c:pt>
                  <c:pt idx="4">
                    <c:v>Media &amp; Communication</c:v>
                  </c:pt>
                  <c:pt idx="5">
                    <c:v>Health &amp; Medical</c:v>
                  </c:pt>
                  <c:pt idx="6">
                    <c:v>Architecture</c:v>
                  </c:pt>
                  <c:pt idx="7">
                    <c:v>Engineering</c:v>
                  </c:pt>
                  <c:pt idx="8">
                    <c:v>Computer Science &amp; Data</c:v>
                  </c:pt>
                  <c:pt idx="9">
                    <c:v>Business &amp; Management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</c:v>
                </c:pt>
                <c:pt idx="1">
                  <c:v>9</c:v>
                </c:pt>
                <c:pt idx="2">
                  <c:v>16</c:v>
                </c:pt>
                <c:pt idx="3">
                  <c:v>16</c:v>
                </c:pt>
                <c:pt idx="4">
                  <c:v>18</c:v>
                </c:pt>
                <c:pt idx="5">
                  <c:v>19</c:v>
                </c:pt>
                <c:pt idx="6">
                  <c:v>20</c:v>
                </c:pt>
                <c:pt idx="7">
                  <c:v>23</c:v>
                </c:pt>
                <c:pt idx="8">
                  <c:v>35</c:v>
                </c:pt>
                <c:pt idx="9">
                  <c:v>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1B2E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625D7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b"/>
        <c:majorGridlines>
          <c:spPr>
            <a:ln w="6350" cap="flat">
              <a:solidFill>
                <a:srgbClr val="E3E0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25D7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AFAFC"/>
        </a:solidFill>
        <a:ln>
          <a:noFill/>
        </a:ln>
        <a:effectLst/>
      </c:spPr>
    </c:plotArea>
    <c:plotVisOnly val="1"/>
    <c:dispBlanksAs val="span"/>
  </c:chart>
  <c:spPr>
    <a:solidFill>
      <a:srgbClr val="FA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satisfaction</c:v>
                </c:pt>
              </c:strCache>
            </c:strRef>
          </c:tx>
          <c:spPr>
            <a:solidFill>
              <a:srgbClr val="6D28D9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1B2E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0AAC4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0E7490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0E7490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B0AAC4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0E7490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Engineering</c:v>
                  </c:pt>
                  <c:pt idx="1">
                    <c:v>Architecture</c:v>
                  </c:pt>
                  <c:pt idx="2">
                    <c:v>Health &amp; Medical</c:v>
                  </c:pt>
                  <c:pt idx="3">
                    <c:v>Computer Science &amp; Data</c:v>
                  </c:pt>
                  <c:pt idx="4">
                    <c:v>Law</c:v>
                  </c:pt>
                  <c:pt idx="5">
                    <c:v>Humanities</c:v>
                  </c:pt>
                  <c:pt idx="6">
                    <c:v>Business &amp; Management</c:v>
                  </c:pt>
                  <c:pt idx="7">
                    <c:v>Science &amp; Mathematics</c:v>
                  </c:pt>
                  <c:pt idx="8">
                    <c:v>Creative Art</c:v>
                  </c:pt>
                  <c:pt idx="9">
                    <c:v>Media &amp; Communication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2.83</c:v>
                </c:pt>
                <c:pt idx="1">
                  <c:v>3.25</c:v>
                </c:pt>
                <c:pt idx="2">
                  <c:v>3.37</c:v>
                </c:pt>
                <c:pt idx="3">
                  <c:v>3.49</c:v>
                </c:pt>
                <c:pt idx="4">
                  <c:v>3.56</c:v>
                </c:pt>
                <c:pt idx="5">
                  <c:v>3.71</c:v>
                </c:pt>
                <c:pt idx="6">
                  <c:v>3.73</c:v>
                </c:pt>
                <c:pt idx="7">
                  <c:v>3.88</c:v>
                </c:pt>
                <c:pt idx="8">
                  <c:v>4</c:v>
                </c:pt>
                <c:pt idx="9">
                  <c:v>4.61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F1B2E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625D7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b"/>
        <c:majorGridlines>
          <c:spPr>
            <a:ln w="6350" cap="flat">
              <a:solidFill>
                <a:srgbClr val="E3E0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25D7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AFAFC"/>
        </a:solidFill>
        <a:ln>
          <a:noFill/>
        </a:ln>
        <a:effectLst/>
      </c:spPr>
    </c:plotArea>
    <c:plotVisOnly val="1"/>
    <c:dispBlanksAs val="span"/>
  </c:chart>
  <c:spPr>
    <a:solidFill>
      <a:srgbClr val="FAFA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Field related to stream</c:v>
                </c:pt>
              </c:strCache>
            </c:strRef>
          </c:tx>
          <c:spPr>
            <a:solidFill>
              <a:srgbClr val="6D28D9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625D78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</c:v>
                </c:pt>
                <c:pt idx="1">
                  <c:v>16</c:v>
                </c:pt>
                <c:pt idx="2">
                  <c:v>8</c:v>
                </c:pt>
                <c:pt idx="3">
                  <c:v>27</c:v>
                </c:pt>
                <c:pt idx="4">
                  <c:v>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Field not related</c:v>
                </c:pt>
              </c:strCache>
            </c:strRef>
          </c:tx>
          <c:spPr>
            <a:solidFill>
              <a:srgbClr val="0E7490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625D78"/>
                    </a:solidFill>
                    <a:latin typeface="Consola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</c:v>
                </c:pt>
                <c:pt idx="1">
                  <c:v>11</c:v>
                </c:pt>
                <c:pt idx="2">
                  <c:v>9</c:v>
                </c:pt>
                <c:pt idx="3">
                  <c:v>36</c:v>
                </c:pt>
                <c:pt idx="4">
                  <c:v>35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625D78"/>
                  </a:solidFill>
                  <a:latin typeface="Consola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625D7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l"/>
        <c:majorGridlines>
          <c:spPr>
            <a:ln w="6350" cap="flat">
              <a:solidFill>
                <a:srgbClr val="E3E0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25D7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A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625D7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AFAF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4A4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6F6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4" name="Shape 2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35305C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417320"/>
            <a:ext cx="10637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 A H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77240" y="2011680"/>
            <a:ext cx="9601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for students who have to</a:t>
            </a:r>
            <a:endParaRPr lang="en-US" sz="38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choose, with no way to compare.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77240" y="38404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and technical overview — framework, data, descriptive and predictive analysis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77240" y="4480560"/>
            <a:ext cx="3840480" cy="1828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4727448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93B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Next.js 16  ·  React 19  ·  Python 3.13  ·  scikit-learn  ·  Supabase Postgres  ·  Vercel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77240" y="5074920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arah-sand.vercel.app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is, and what it is for.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4846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137160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89280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51560" y="2231136"/>
            <a:ext cx="42976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Malaysian student leaving SPM picks a field with almost nothing to compare against — a prospectus, a family opinion, and whatever their friends are doing. Nobody tells them what students like them actually went on to do, or whether they were glad of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3246120"/>
            <a:ext cx="484632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3246120"/>
            <a:ext cx="50292" cy="137160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38328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ARAH is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51560" y="3721608"/>
            <a:ext cx="42976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pathway finder. Ten questions, matched against 207 real SPM leavers who already made the choice — returning the fields students with similar answers entered, the sample behind each, and how satisfied those students were.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7240" y="4736592"/>
            <a:ext cx="484632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4736592"/>
            <a:ext cx="50292" cy="128016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487375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51560" y="5212080"/>
            <a:ext cx="4297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Turn real outcomes into a comparison a student can act on.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Rank fields by evidence, and show the sample behind each.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Publish the uncertainty, and nothing where the data is thin.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Protect the 207 teenagers whose answers make it work.</a:t>
            </a:r>
            <a:endParaRPr lang="en-US" sz="1000" dirty="0"/>
          </a:p>
        </p:txBody>
      </p:sp>
      <p:pic>
        <p:nvPicPr>
          <p:cNvPr id="19" name="Image 0" descr="arah-sand.vercel.ap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25312" y="1755648"/>
            <a:ext cx="5486400" cy="325755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5925312" y="5077206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arah-sand.vercel.app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three minutes end to end. Browsing needs no account; saving a result does.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STUDENT USES IT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steps, about three minutes.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83080"/>
            <a:ext cx="2450592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83080"/>
            <a:ext cx="50292" cy="17007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9293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051560" y="224028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Answer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51560" y="2624328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questions about results, subjects, interests, and how they like to work.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447288" y="1783080"/>
            <a:ext cx="2450592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47288" y="1783080"/>
            <a:ext cx="50292" cy="170078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3721608" y="19293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721608" y="224028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Match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721608" y="2624328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against 207 real Malaysian SPM leavers who already made the choice.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77240" y="3657600"/>
            <a:ext cx="2450592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77240" y="3657600"/>
            <a:ext cx="50292" cy="170078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9" name="Text 17"/>
          <p:cNvSpPr/>
          <p:nvPr/>
        </p:nvSpPr>
        <p:spPr>
          <a:xfrm>
            <a:off x="1051560" y="38039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051560" y="411480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Rank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51560" y="4498848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ordered by fit, each with a confidence level and the sample it rests on.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447288" y="3657600"/>
            <a:ext cx="2450592" cy="17007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447288" y="3657600"/>
            <a:ext cx="50292" cy="1700784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4" name="Text 22"/>
          <p:cNvSpPr/>
          <p:nvPr/>
        </p:nvSpPr>
        <p:spPr>
          <a:xfrm>
            <a:off x="3721608" y="38039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9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721608" y="4114800"/>
            <a:ext cx="19019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Explore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721608" y="4498848"/>
            <a:ext cx="19019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those students chose, how satisfied they were, and the advice they left.</a:t>
            </a:r>
            <a:endParaRPr lang="en-US" sz="1150" dirty="0"/>
          </a:p>
        </p:txBody>
      </p:sp>
      <p:pic>
        <p:nvPicPr>
          <p:cNvPr id="27" name="Image 0" descr="A stored result — /results/&lt;id&gt;, never recomput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1783080"/>
            <a:ext cx="5102352" cy="3675888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6309360" y="5522976"/>
            <a:ext cx="5102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stored result — /results/&lt;id&gt;, never recomputed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is written once and read back. A student returning to the same link sees the same three fields, not a fresh roll of the model.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CRISP-DM FRAMEWORK AND DATA OVERVIEW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standard method, applied to one survey.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56235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65836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978408" y="1755648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D2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25880" y="1837944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understanding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264408" y="1755648"/>
            <a:ext cx="3035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student actually needs at the point of choosing — a comparison, not advice.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77240" y="2468880"/>
            <a:ext cx="56235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2468880"/>
            <a:ext cx="50292" cy="65836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4" name="Text 12"/>
          <p:cNvSpPr/>
          <p:nvPr/>
        </p:nvSpPr>
        <p:spPr>
          <a:xfrm>
            <a:off x="978408" y="2468880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D2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325880" y="2551176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understanding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264408" y="2468880"/>
            <a:ext cx="3035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survey of 207 SPM leavers: ten answers each, the field they entered, and how satisfied they are.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77240" y="3182112"/>
            <a:ext cx="56235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77240" y="3182112"/>
            <a:ext cx="50292" cy="658368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9" name="Text 17"/>
          <p:cNvSpPr/>
          <p:nvPr/>
        </p:nvSpPr>
        <p:spPr>
          <a:xfrm>
            <a:off x="978408" y="3182112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325880" y="3264408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preparation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264408" y="3182112"/>
            <a:ext cx="3035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Cleaning, then a 55-slot one-hot encoding. One encoder in Python, a mirror in JavaScript, pinned by fixture tests.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77240" y="3895344"/>
            <a:ext cx="56235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77240" y="3895344"/>
            <a:ext cx="50292" cy="658368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4" name="Text 22"/>
          <p:cNvSpPr/>
          <p:nvPr/>
        </p:nvSpPr>
        <p:spPr>
          <a:xfrm>
            <a:off x="978408" y="3895344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325880" y="397764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Modelling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264408" y="3895344"/>
            <a:ext cx="3035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scikit-learn classifiers — KNN, logistic regression, random forest, Bernoulli naive Bayes — combined by soft voting.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77240" y="4608576"/>
            <a:ext cx="56235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77240" y="4608576"/>
            <a:ext cx="50292" cy="658368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9" name="Text 27"/>
          <p:cNvSpPr/>
          <p:nvPr/>
        </p:nvSpPr>
        <p:spPr>
          <a:xfrm>
            <a:off x="978408" y="4608576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A9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325880" y="469087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264408" y="4608576"/>
            <a:ext cx="3035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Top-3 accuracy under repeated stratified cross-validation: five folds, five repeats. Never a single split.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777240" y="5321808"/>
            <a:ext cx="56235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777240" y="5321808"/>
            <a:ext cx="50292" cy="658368"/>
          </a:xfrm>
          <a:prstGeom prst="rect">
            <a:avLst/>
          </a:prstGeom>
          <a:solidFill>
            <a:srgbClr val="1F7A5A"/>
          </a:solidFill>
          <a:ln/>
        </p:spPr>
      </p:sp>
      <p:sp>
        <p:nvSpPr>
          <p:cNvPr id="34" name="Text 32"/>
          <p:cNvSpPr/>
          <p:nvPr/>
        </p:nvSpPr>
        <p:spPr>
          <a:xfrm>
            <a:off x="978408" y="5321808"/>
            <a:ext cx="274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7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325880" y="5404104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264408" y="5321808"/>
            <a:ext cx="3035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as a Python service on Vercel behind the Next.js app, with the artefacts committed alongside the code.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720840" y="1755648"/>
            <a:ext cx="4693615" cy="1280160"/>
          </a:xfrm>
          <a:prstGeom prst="rect">
            <a:avLst/>
          </a:prstGeom>
          <a:solidFill>
            <a:srgbClr val="EFEAFB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995160" y="1847088"/>
            <a:ext cx="4144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data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995160" y="2167128"/>
            <a:ext cx="4144975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207 responses · 10 fields of study · 5 pre-U routes · satisfaction 1–5 · free-text advice. One Google Forms export, no third-party dataset. National MoHE enrolment figures are cited as context and never used as training rows.</a:t>
            </a:r>
            <a:endParaRPr lang="en-US" sz="1100" dirty="0"/>
          </a:p>
        </p:txBody>
      </p:sp>
      <p:pic>
        <p:nvPicPr>
          <p:cNvPr id="40" name="Image 0" descr="/admin/survey-data — the corpus the model rea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41464" y="3145536"/>
            <a:ext cx="3840480" cy="2671638"/>
          </a:xfrm>
          <a:prstGeom prst="rect">
            <a:avLst/>
          </a:prstGeom>
        </p:spPr>
      </p:pic>
      <p:sp>
        <p:nvSpPr>
          <p:cNvPr id="41" name="Text 38"/>
          <p:cNvSpPr/>
          <p:nvPr/>
        </p:nvSpPr>
        <p:spPr>
          <a:xfrm>
            <a:off x="7141464" y="588118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/admin/survey-data — the corpus the model reads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ml/train.py reads ml/data/survey.csv and nothing else. Every descriptive figure in the next three slides comes from decks/describe_corpus.py, reading that same file.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AND TECHNIQUES USED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is built from.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10637215" cy="4983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978408" y="1755648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017520" y="1755648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JavaScript (JSX) · Python 3.13 · SQL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315200" y="1755648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TypeScript, by request — JSX throughout.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78408" y="2231136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017520" y="2231136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Next.js 16.2 App Router · React 19.2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0" y="2231136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Components by default; client code only where the browser is needed.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77240" y="2706624"/>
            <a:ext cx="10637215" cy="4983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978408" y="2706624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017520" y="2706624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Tailwind CSS v4 · shadcn/ui · Radix · PrimeReact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315200" y="2706624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CSS-first @theme configuration — v4 has no tailwind.config.js.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78408" y="3182112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17520" y="3182112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GSAP · Motion · Lenis · custom canvas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315200" y="3182112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animation gated on prefers-reduced-motion.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77240" y="3657600"/>
            <a:ext cx="10637215" cy="4983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978408" y="3657600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017520" y="3657600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scikit-learn · NumPy · pandas · Joblib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315200" y="3657600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is training-only and deliberately absent from the deployed service.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78408" y="4133088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017520" y="4133088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Supabase Postgres · Row Level Security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315200" y="4133088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rules live in the database, not only in application code.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77240" y="4608576"/>
            <a:ext cx="10637215" cy="4983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978408" y="4608576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017520" y="4608576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Recharts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315200" y="4608576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component set on public pages and in the admin console.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78408" y="5084064"/>
            <a:ext cx="19202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017520" y="5084064"/>
            <a:ext cx="411480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Vitest · pytest · ESLint · Playwright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315200" y="5084064"/>
            <a:ext cx="39163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382 JavaScript tests and 36 Python tests; 12 of them need production credentials.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77240" y="5687568"/>
            <a:ext cx="10637215" cy="1005840"/>
          </a:xfrm>
          <a:prstGeom prst="rect">
            <a:avLst/>
          </a:prstGeom>
          <a:solidFill>
            <a:srgbClr val="EFEAFB"/>
          </a:solidFill>
          <a:ln w="9525">
            <a:solidFill>
              <a:srgbClr val="E3E0E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69848" y="5797296"/>
            <a:ext cx="1005199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Techniques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1069848" y="6108192"/>
            <a:ext cx="1005199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statistics over the corpus · one-hot encoding into 55 features · four-classifier soft-voting ensemble · repeated stratified cross-validation, five folds and five repeats · marginalisation over the unknown pre-U route · k-anonymity suppression, count banding and refresh gating on everything published.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runtimes, one deployment.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074920" y="1664208"/>
            <a:ext cx="6339535" cy="1325880"/>
          </a:xfrm>
          <a:prstGeom prst="rect">
            <a:avLst/>
          </a:prstGeom>
          <a:solidFill>
            <a:srgbClr val="EFEAFB"/>
          </a:solidFill>
          <a:ln w="9525">
            <a:solidFill>
              <a:srgbClr val="E3E0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49240" y="1801368"/>
            <a:ext cx="57908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two services?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349240" y="2121408"/>
            <a:ext cx="5790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cannot run scikit-learn, and rewriting the model in JavaScript would mean two implementations to keep in step. Vercel Services runs both from one repository and one deploy.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1664208"/>
            <a:ext cx="356616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77240" y="1664208"/>
            <a:ext cx="50292" cy="132588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181051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Browser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51560" y="2176272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19 interface, client-side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validation, animated canvas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493008"/>
            <a:ext cx="324612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3493008"/>
            <a:ext cx="50292" cy="17830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3639312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 service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51560" y="4005072"/>
            <a:ext cx="2697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16 App Router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Components, Server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Actions, route handlers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00600" y="3493008"/>
            <a:ext cx="324612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00600" y="3493008"/>
            <a:ext cx="50292" cy="17830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0" name="Text 18"/>
          <p:cNvSpPr/>
          <p:nvPr/>
        </p:nvSpPr>
        <p:spPr>
          <a:xfrm>
            <a:off x="5074920" y="3639312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 service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074920" y="4005072"/>
            <a:ext cx="2697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3.13 ASGI app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ensemble loaded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model.joblib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823960" y="3493008"/>
            <a:ext cx="2590495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823960" y="3493008"/>
            <a:ext cx="50292" cy="1783080"/>
          </a:xfrm>
          <a:prstGeom prst="rect">
            <a:avLst/>
          </a:prstGeom>
          <a:solidFill>
            <a:srgbClr val="1F7A5A"/>
          </a:solidFill>
          <a:ln/>
        </p:spPr>
      </p:sp>
      <p:sp>
        <p:nvSpPr>
          <p:cNvPr id="24" name="Text 22"/>
          <p:cNvSpPr/>
          <p:nvPr/>
        </p:nvSpPr>
        <p:spPr>
          <a:xfrm>
            <a:off x="9098280" y="3639312"/>
            <a:ext cx="2041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Database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098280" y="4005072"/>
            <a:ext cx="20418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Postgres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Level Security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migrations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331720" y="3035808"/>
            <a:ext cx="0" cy="411480"/>
          </a:xfrm>
          <a:prstGeom prst="line">
            <a:avLst/>
          </a:prstGeom>
          <a:noFill/>
          <a:ln w="22225">
            <a:solidFill>
              <a:srgbClr val="8B5CF6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087368" y="4379976"/>
            <a:ext cx="649224" cy="0"/>
          </a:xfrm>
          <a:prstGeom prst="line">
            <a:avLst/>
          </a:prstGeom>
          <a:noFill/>
          <a:ln w="22225">
            <a:solidFill>
              <a:srgbClr val="8B5CF6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110728" y="4379976"/>
            <a:ext cx="649224" cy="0"/>
          </a:xfrm>
          <a:prstGeom prst="line">
            <a:avLst/>
          </a:prstGeom>
          <a:noFill/>
          <a:ln w="22225">
            <a:solidFill>
              <a:srgbClr val="8B5CF6"/>
            </a:solidFill>
            <a:prstDash val="solid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vercel.json routes /api/ml/* to the Python runtime; every other path goes to Next.js.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FLOW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request, end to end.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847088"/>
            <a:ext cx="384048" cy="384048"/>
          </a:xfrm>
          <a:prstGeom prst="ellipse">
            <a:avLst/>
          </a:prstGeom>
          <a:solidFill>
            <a:srgbClr val="6D28D9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60120" y="2249424"/>
            <a:ext cx="20117" cy="310896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828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Browser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663440" y="1773936"/>
            <a:ext cx="6751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answers ten questions. Answers are validated in the browser against the same feature spec the model uses.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77240" y="2670048"/>
            <a:ext cx="384048" cy="384048"/>
          </a:xfrm>
          <a:prstGeom prst="ellipse">
            <a:avLst/>
          </a:prstGeom>
          <a:solidFill>
            <a:srgbClr val="6D28D9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670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60120" y="3072384"/>
            <a:ext cx="20117" cy="310896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15" name="Text 13"/>
          <p:cNvSpPr/>
          <p:nvPr/>
        </p:nvSpPr>
        <p:spPr>
          <a:xfrm>
            <a:off x="1417320" y="2651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/api/questions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663440" y="2596896"/>
            <a:ext cx="6751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Next.js route handler authenticates the session and writes the raw answers to quiz_responses.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77240" y="3493008"/>
            <a:ext cx="384048" cy="384048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493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60120" y="3895344"/>
            <a:ext cx="20117" cy="310896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20" name="Text 18"/>
          <p:cNvSpPr/>
          <p:nvPr/>
        </p:nvSpPr>
        <p:spPr>
          <a:xfrm>
            <a:off x="1417320" y="3474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Encode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663440" y="3419856"/>
            <a:ext cx="6751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become a 55-feature vector. One encoder in Python, a mirror in JavaScript, held in step by fixture tests.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77240" y="4315968"/>
            <a:ext cx="384048" cy="384048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60120" y="4718304"/>
            <a:ext cx="20117" cy="310896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25" name="Text 23"/>
          <p:cNvSpPr/>
          <p:nvPr/>
        </p:nvSpPr>
        <p:spPr>
          <a:xfrm>
            <a:off x="1417320" y="42976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/api/ml/predict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663440" y="4242816"/>
            <a:ext cx="6751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Rewritten to the Python service. The ensemble votes and returns a ranked probability for every field.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77240" y="5138928"/>
            <a:ext cx="384048" cy="384048"/>
          </a:xfrm>
          <a:prstGeom prst="ellipse">
            <a:avLst/>
          </a:prstGeom>
          <a:solidFill>
            <a:srgbClr val="3A93A8"/>
          </a:solidFill>
          <a:ln/>
        </p:spPr>
      </p:sp>
      <p:sp>
        <p:nvSpPr>
          <p:cNvPr id="28" name="Text 26"/>
          <p:cNvSpPr/>
          <p:nvPr/>
        </p:nvSpPr>
        <p:spPr>
          <a:xfrm>
            <a:off x="777240" y="5138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960120" y="5541264"/>
            <a:ext cx="20117" cy="310896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30" name="Text 28"/>
          <p:cNvSpPr/>
          <p:nvPr/>
        </p:nvSpPr>
        <p:spPr>
          <a:xfrm>
            <a:off x="1417320" y="51206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Annotate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4663440" y="5065776"/>
            <a:ext cx="6751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field is joined to its published statistics — sample size, satisfaction, confidence tier.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77240" y="5961888"/>
            <a:ext cx="384048" cy="384048"/>
          </a:xfrm>
          <a:prstGeom prst="ellipse">
            <a:avLst/>
          </a:prstGeom>
          <a:solidFill>
            <a:srgbClr val="1F7A5A"/>
          </a:solidFill>
          <a:ln/>
        </p:spPr>
      </p:sp>
      <p:sp>
        <p:nvSpPr>
          <p:cNvPr id="33" name="Text 31"/>
          <p:cNvSpPr/>
          <p:nvPr/>
        </p:nvSpPr>
        <p:spPr>
          <a:xfrm>
            <a:off x="777240" y="5961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1417320" y="59436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B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 and redirect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4663440" y="5888736"/>
            <a:ext cx="67510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finished result is written to predictions; the student lands on /results/&lt;id&gt;. It is never recomputed.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 · PART 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207 students actually chose.</a:t>
            </a:r>
            <a:endParaRPr lang="en-US" sz="3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85800" y="1719072"/>
          <a:ext cx="60350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949440" y="1755648"/>
            <a:ext cx="4465015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949440" y="1755648"/>
            <a:ext cx="50292" cy="137160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0" name="Text 7"/>
          <p:cNvSpPr/>
          <p:nvPr/>
        </p:nvSpPr>
        <p:spPr>
          <a:xfrm>
            <a:off x="7223760" y="1892808"/>
            <a:ext cx="3916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classes are not balanced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23760" y="2231136"/>
            <a:ext cx="391637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Management carries 44 students; Humanities carries 7. A model trained on this has far more to say about some fields than others, which is why the ensemble carries a naive Bayes term and the interface always prints the sample size.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949440" y="3246120"/>
            <a:ext cx="4465015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949440" y="3246120"/>
            <a:ext cx="50292" cy="1371600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14" name="Text 11"/>
          <p:cNvSpPr/>
          <p:nvPr/>
        </p:nvSpPr>
        <p:spPr>
          <a:xfrm>
            <a:off x="7223760" y="3383280"/>
            <a:ext cx="3916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fields publish nothing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223760" y="3721608"/>
            <a:ext cx="391637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Art (9) and Humanities (7) fall below the k = 10 threshold. Their pages say so in plain words rather than showing a statistic drawn from single figures — the grey bars on the left.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949440" y="4754880"/>
            <a:ext cx="446501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ANSWERED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949440" y="4919472"/>
            <a:ext cx="44650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625D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109 public school · 51 boarding · 29 private · 18 religious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6949440" y="5193792"/>
            <a:ext cx="446501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PRE-U ROUTES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6949440" y="5358384"/>
            <a:ext cx="44650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625D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Diploma 73 · Foundation 52 · A-Levels 42 · Matriculation 31 · STPM 9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6949440" y="5632704"/>
            <a:ext cx="446501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SPM RESULTS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6949440" y="5797296"/>
            <a:ext cx="44650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900" dirty="0">
                <a:solidFill>
                  <a:srgbClr val="625D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64 at 6–8 As · 59 at 3–5 As · 58 at 9+ As · 25 at 1–2 As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207 · generated by decks/describe_corpus.py from ml/data/survey.csv — the same file ml/train.py reads.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 · PART 2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students ended up glad of it.</a:t>
            </a:r>
            <a:endParaRPr lang="en-US" sz="3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85800" y="1719072"/>
          <a:ext cx="603504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949440" y="1755648"/>
            <a:ext cx="4465015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949440" y="1755648"/>
            <a:ext cx="50292" cy="137160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0" name="Text 7"/>
          <p:cNvSpPr/>
          <p:nvPr/>
        </p:nvSpPr>
        <p:spPr>
          <a:xfrm>
            <a:off x="7223760" y="1892808"/>
            <a:ext cx="3916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spread is wide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23760" y="2231136"/>
            <a:ext cx="391637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&amp; Communication averages 4.61 of 5, with 100% rating themselves 4 or 5. Engineering averages 2.83, with 39%. A ranked shortlist that left satisfaction out would treat those two as the same result.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949440" y="3246120"/>
            <a:ext cx="4465015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949440" y="3246120"/>
            <a:ext cx="50292" cy="128016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4" name="Text 11"/>
          <p:cNvSpPr/>
          <p:nvPr/>
        </p:nvSpPr>
        <p:spPr>
          <a:xfrm>
            <a:off x="7223760" y="3383280"/>
            <a:ext cx="3916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the product publishes it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223760" y="3721608"/>
            <a:ext cx="391637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match carries average satisfaction and the share who ended up dissatisfied, next to the percentage — so a high match with an unhappy cohort reads as exactly that.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949440" y="4645152"/>
            <a:ext cx="4465015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949440" y="4645152"/>
            <a:ext cx="50292" cy="1280160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18" name="Text 15"/>
          <p:cNvSpPr/>
          <p:nvPr/>
        </p:nvSpPr>
        <p:spPr>
          <a:xfrm>
            <a:off x="7223760" y="4782312"/>
            <a:ext cx="39163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grey bars are not published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223760" y="5120640"/>
            <a:ext cx="391637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Art (9) and Humanities (7) are shown here for completeness. In the product both pages publish no statistics at all — the same k = 10 rule that governs every figure on the site.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of the 1–5 self-rating, computed by decks/describe_corpus.py over all 207 rows.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 · PART 3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staying in your SPM stream make you happier?</a:t>
            </a:r>
            <a:endParaRPr lang="en-US" sz="32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85800" y="1755648"/>
          <a:ext cx="53949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777240" y="4937760"/>
            <a:ext cx="5212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Self-rated satisfaction, 1 to 5 — share of each group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777240" y="5321808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Matriculation is the outlier on the right — median 2 against 4 for every other route, on 31 students. Reported as an observation, not a claim: at that sample it is not separable from noise.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400800" y="1755648"/>
            <a:ext cx="5013655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675120" y="1847088"/>
            <a:ext cx="4465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Satisfaction spread by pre-U route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675120" y="2130552"/>
            <a:ext cx="44650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 is the middle half, line is the median, whisker is the full range.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882128" y="2432304"/>
            <a:ext cx="6401" cy="2084832"/>
          </a:xfrm>
          <a:prstGeom prst="rect">
            <a:avLst/>
          </a:prstGeom>
          <a:solidFill>
            <a:srgbClr val="EDEBF3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0" y="4544568"/>
            <a:ext cx="2194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678342" y="2432304"/>
            <a:ext cx="6401" cy="2084832"/>
          </a:xfrm>
          <a:prstGeom prst="rect">
            <a:avLst/>
          </a:prstGeom>
          <a:solidFill>
            <a:srgbClr val="EDEBF3"/>
          </a:solidFill>
          <a:ln/>
        </p:spPr>
      </p:sp>
      <p:sp>
        <p:nvSpPr>
          <p:cNvPr id="16" name="Text 13"/>
          <p:cNvSpPr/>
          <p:nvPr/>
        </p:nvSpPr>
        <p:spPr>
          <a:xfrm>
            <a:off x="8568614" y="4544568"/>
            <a:ext cx="2194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9474556" y="2432304"/>
            <a:ext cx="6401" cy="2084832"/>
          </a:xfrm>
          <a:prstGeom prst="rect">
            <a:avLst/>
          </a:prstGeom>
          <a:solidFill>
            <a:srgbClr val="EDEBF3"/>
          </a:solidFill>
          <a:ln/>
        </p:spPr>
      </p:sp>
      <p:sp>
        <p:nvSpPr>
          <p:cNvPr id="18" name="Text 15"/>
          <p:cNvSpPr/>
          <p:nvPr/>
        </p:nvSpPr>
        <p:spPr>
          <a:xfrm>
            <a:off x="9364828" y="4544568"/>
            <a:ext cx="2194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10270769" y="2432304"/>
            <a:ext cx="6401" cy="2084832"/>
          </a:xfrm>
          <a:prstGeom prst="rect">
            <a:avLst/>
          </a:prstGeom>
          <a:solidFill>
            <a:srgbClr val="EDEBF3"/>
          </a:solidFill>
          <a:ln/>
        </p:spPr>
      </p:sp>
      <p:sp>
        <p:nvSpPr>
          <p:cNvPr id="20" name="Text 17"/>
          <p:cNvSpPr/>
          <p:nvPr/>
        </p:nvSpPr>
        <p:spPr>
          <a:xfrm>
            <a:off x="10161041" y="4544568"/>
            <a:ext cx="2194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11066983" y="2432304"/>
            <a:ext cx="6401" cy="2084832"/>
          </a:xfrm>
          <a:prstGeom prst="rect">
            <a:avLst/>
          </a:prstGeom>
          <a:solidFill>
            <a:srgbClr val="EDEBF3"/>
          </a:solidFill>
          <a:ln/>
        </p:spPr>
      </p:sp>
      <p:sp>
        <p:nvSpPr>
          <p:cNvPr id="22" name="Text 19"/>
          <p:cNvSpPr/>
          <p:nvPr/>
        </p:nvSpPr>
        <p:spPr>
          <a:xfrm>
            <a:off x="10957255" y="4544568"/>
            <a:ext cx="21945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6675120" y="2478024"/>
            <a:ext cx="10972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Diploma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675120" y="265176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n=73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7882128" y="2649931"/>
            <a:ext cx="3184855" cy="21946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26" name="Shape 23"/>
          <p:cNvSpPr/>
          <p:nvPr/>
        </p:nvSpPr>
        <p:spPr>
          <a:xfrm>
            <a:off x="7871155" y="257860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27" name="Shape 24"/>
          <p:cNvSpPr/>
          <p:nvPr/>
        </p:nvSpPr>
        <p:spPr>
          <a:xfrm>
            <a:off x="11056010" y="257860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28" name="Shape 25"/>
          <p:cNvSpPr/>
          <p:nvPr/>
        </p:nvSpPr>
        <p:spPr>
          <a:xfrm>
            <a:off x="9474556" y="2555748"/>
            <a:ext cx="1592428" cy="210312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9" name="Shape 26"/>
          <p:cNvSpPr/>
          <p:nvPr/>
        </p:nvSpPr>
        <p:spPr>
          <a:xfrm>
            <a:off x="10250653" y="2519172"/>
            <a:ext cx="40234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7"/>
          <p:cNvSpPr/>
          <p:nvPr/>
        </p:nvSpPr>
        <p:spPr>
          <a:xfrm>
            <a:off x="6675120" y="2889504"/>
            <a:ext cx="10972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6675120" y="306324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n=52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882128" y="3061411"/>
            <a:ext cx="3184855" cy="21946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33" name="Shape 30"/>
          <p:cNvSpPr/>
          <p:nvPr/>
        </p:nvSpPr>
        <p:spPr>
          <a:xfrm>
            <a:off x="7871155" y="299008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34" name="Shape 31"/>
          <p:cNvSpPr/>
          <p:nvPr/>
        </p:nvSpPr>
        <p:spPr>
          <a:xfrm>
            <a:off x="11056010" y="299008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35" name="Shape 32"/>
          <p:cNvSpPr/>
          <p:nvPr/>
        </p:nvSpPr>
        <p:spPr>
          <a:xfrm>
            <a:off x="10270769" y="2967228"/>
            <a:ext cx="796214" cy="210312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6" name="Shape 33"/>
          <p:cNvSpPr/>
          <p:nvPr/>
        </p:nvSpPr>
        <p:spPr>
          <a:xfrm>
            <a:off x="10250653" y="2930652"/>
            <a:ext cx="40234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4"/>
          <p:cNvSpPr/>
          <p:nvPr/>
        </p:nvSpPr>
        <p:spPr>
          <a:xfrm>
            <a:off x="6675120" y="3300984"/>
            <a:ext cx="10972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A-Levels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6675120" y="347472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n=42</a:t>
            </a:r>
            <a:endParaRPr lang="en-US" sz="800" dirty="0"/>
          </a:p>
        </p:txBody>
      </p:sp>
      <p:sp>
        <p:nvSpPr>
          <p:cNvPr id="39" name="Shape 36"/>
          <p:cNvSpPr/>
          <p:nvPr/>
        </p:nvSpPr>
        <p:spPr>
          <a:xfrm>
            <a:off x="7882128" y="3472891"/>
            <a:ext cx="3184855" cy="21946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40" name="Shape 37"/>
          <p:cNvSpPr/>
          <p:nvPr/>
        </p:nvSpPr>
        <p:spPr>
          <a:xfrm>
            <a:off x="7871155" y="340156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41" name="Shape 38"/>
          <p:cNvSpPr/>
          <p:nvPr/>
        </p:nvSpPr>
        <p:spPr>
          <a:xfrm>
            <a:off x="11056010" y="340156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42" name="Shape 39"/>
          <p:cNvSpPr/>
          <p:nvPr/>
        </p:nvSpPr>
        <p:spPr>
          <a:xfrm>
            <a:off x="9474556" y="3378708"/>
            <a:ext cx="1592428" cy="210312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43" name="Shape 40"/>
          <p:cNvSpPr/>
          <p:nvPr/>
        </p:nvSpPr>
        <p:spPr>
          <a:xfrm>
            <a:off x="10250653" y="3342132"/>
            <a:ext cx="40234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6675120" y="3712464"/>
            <a:ext cx="10972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Matriculation</a:t>
            </a:r>
            <a:endParaRPr lang="en-US" sz="950" dirty="0"/>
          </a:p>
        </p:txBody>
      </p:sp>
      <p:sp>
        <p:nvSpPr>
          <p:cNvPr id="45" name="Text 42"/>
          <p:cNvSpPr/>
          <p:nvPr/>
        </p:nvSpPr>
        <p:spPr>
          <a:xfrm>
            <a:off x="6675120" y="388620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n=31</a:t>
            </a:r>
            <a:endParaRPr lang="en-US" sz="800" dirty="0"/>
          </a:p>
        </p:txBody>
      </p:sp>
      <p:sp>
        <p:nvSpPr>
          <p:cNvPr id="46" name="Shape 43"/>
          <p:cNvSpPr/>
          <p:nvPr/>
        </p:nvSpPr>
        <p:spPr>
          <a:xfrm>
            <a:off x="7882128" y="3884371"/>
            <a:ext cx="3184855" cy="21946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47" name="Shape 44"/>
          <p:cNvSpPr/>
          <p:nvPr/>
        </p:nvSpPr>
        <p:spPr>
          <a:xfrm>
            <a:off x="7871155" y="381304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48" name="Shape 45"/>
          <p:cNvSpPr/>
          <p:nvPr/>
        </p:nvSpPr>
        <p:spPr>
          <a:xfrm>
            <a:off x="11056010" y="381304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49" name="Shape 46"/>
          <p:cNvSpPr/>
          <p:nvPr/>
        </p:nvSpPr>
        <p:spPr>
          <a:xfrm>
            <a:off x="7882128" y="3790188"/>
            <a:ext cx="2388641" cy="210312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50" name="Shape 47"/>
          <p:cNvSpPr/>
          <p:nvPr/>
        </p:nvSpPr>
        <p:spPr>
          <a:xfrm>
            <a:off x="8658225" y="3753612"/>
            <a:ext cx="40234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8"/>
          <p:cNvSpPr/>
          <p:nvPr/>
        </p:nvSpPr>
        <p:spPr>
          <a:xfrm>
            <a:off x="6675120" y="4123944"/>
            <a:ext cx="10972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STPM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6675120" y="4297680"/>
            <a:ext cx="1097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n=9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7882128" y="4295851"/>
            <a:ext cx="3184855" cy="21946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54" name="Shape 51"/>
          <p:cNvSpPr/>
          <p:nvPr/>
        </p:nvSpPr>
        <p:spPr>
          <a:xfrm>
            <a:off x="7871155" y="422452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55" name="Shape 52"/>
          <p:cNvSpPr/>
          <p:nvPr/>
        </p:nvSpPr>
        <p:spPr>
          <a:xfrm>
            <a:off x="11056010" y="4224528"/>
            <a:ext cx="21946" cy="164592"/>
          </a:xfrm>
          <a:prstGeom prst="rect">
            <a:avLst/>
          </a:prstGeom>
          <a:solidFill>
            <a:srgbClr val="8F87A8"/>
          </a:solidFill>
          <a:ln/>
        </p:spPr>
      </p:sp>
      <p:sp>
        <p:nvSpPr>
          <p:cNvPr id="56" name="Shape 53"/>
          <p:cNvSpPr/>
          <p:nvPr/>
        </p:nvSpPr>
        <p:spPr>
          <a:xfrm>
            <a:off x="8678342" y="4201668"/>
            <a:ext cx="2388641" cy="210312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7" name="Shape 54"/>
          <p:cNvSpPr/>
          <p:nvPr/>
        </p:nvSpPr>
        <p:spPr>
          <a:xfrm>
            <a:off x="10250653" y="4165092"/>
            <a:ext cx="40234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Shape 55"/>
          <p:cNvSpPr/>
          <p:nvPr/>
        </p:nvSpPr>
        <p:spPr>
          <a:xfrm>
            <a:off x="6400800" y="4882896"/>
            <a:ext cx="5013655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59" name="Shape 56"/>
          <p:cNvSpPr/>
          <p:nvPr/>
        </p:nvSpPr>
        <p:spPr>
          <a:xfrm>
            <a:off x="6400800" y="4882896"/>
            <a:ext cx="50292" cy="13258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60" name="Text 57"/>
          <p:cNvSpPr/>
          <p:nvPr/>
        </p:nvSpPr>
        <p:spPr>
          <a:xfrm>
            <a:off x="6675120" y="5020056"/>
            <a:ext cx="4465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stream is not the answer</a:t>
            </a:r>
            <a:endParaRPr lang="en-US" sz="1500" dirty="0"/>
          </a:p>
        </p:txBody>
      </p:sp>
      <p:sp>
        <p:nvSpPr>
          <p:cNvPr id="61" name="Text 58"/>
          <p:cNvSpPr/>
          <p:nvPr/>
        </p:nvSpPr>
        <p:spPr>
          <a:xfrm>
            <a:off x="6675120" y="5358384"/>
            <a:ext cx="446501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whose field matched their SPM stream average 3.45 of 5 (n=122); those who switched average 3.80 (n=85). Following the stream is not what makes people glad of the choice — which is why the model matches on the whole answer set, not the stream alone.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 · PART 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ten answers to a ranked list.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106372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7863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755648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D2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Encode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331720" y="1755648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ten answers become a 55-number vector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623560" y="1755648"/>
            <a:ext cx="551657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option a student can pick becomes one slot, set to 1 if they picked it. "Science stream" is one slot, "enjoys maths" another. The 1-5 comfort scale is scaled into the same range so no single answer dominates by virtue of being a bigger number.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2624328"/>
            <a:ext cx="106372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2624328"/>
            <a:ext cx="50292" cy="78638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2624328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Compare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331720" y="2624328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Against all 207 encoded alumni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623560" y="2624328"/>
            <a:ext cx="551657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encoding was applied to every alumnus, so a student and an alumnus are directly comparable — 55 numbers against 55 numbers. This is what makes "students like you" a measurement rather than a figure of speech.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77240" y="3493008"/>
            <a:ext cx="106372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77240" y="3493008"/>
            <a:ext cx="50292" cy="78638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9" name="Text 17"/>
          <p:cNvSpPr/>
          <p:nvPr/>
        </p:nvSpPr>
        <p:spPr>
          <a:xfrm>
            <a:off x="1051560" y="3493008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Vote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331720" y="3493008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models each score every field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623560" y="3493008"/>
            <a:ext cx="551657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Nearest-neighbours asks who answered most like you. Regression asks which answers historically pointed where. The forest looks for combinations. Naive Bayes steadies thin classes. Each returns a probability per field; the four are averaged.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77240" y="4361688"/>
            <a:ext cx="106372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77240" y="4361688"/>
            <a:ext cx="50292" cy="786384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4" name="Text 22"/>
          <p:cNvSpPr/>
          <p:nvPr/>
        </p:nvSpPr>
        <p:spPr>
          <a:xfrm>
            <a:off x="1051560" y="4361688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9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Marginalise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331720" y="4361688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Unknown pre-U route is averaged, not guessed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623560" y="4361688"/>
            <a:ext cx="551657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who has not chosen a pre-U route yet is predicted once for every route, and the results are averaged weighted by how common each route is. Nothing is invented on their behalf — the uncertainty is carried through instead of hidden.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77240" y="5230368"/>
            <a:ext cx="10637215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77240" y="5230368"/>
            <a:ext cx="50292" cy="786384"/>
          </a:xfrm>
          <a:prstGeom prst="rect">
            <a:avLst/>
          </a:prstGeom>
          <a:solidFill>
            <a:srgbClr val="1F7A5A"/>
          </a:solidFill>
          <a:ln/>
        </p:spPr>
      </p:sp>
      <p:sp>
        <p:nvSpPr>
          <p:cNvPr id="29" name="Text 27"/>
          <p:cNvSpPr/>
          <p:nvPr/>
        </p:nvSpPr>
        <p:spPr>
          <a:xfrm>
            <a:off x="1051560" y="5230368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7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Rank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331720" y="5230368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Sorted, with the sample behind each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623560" y="5230368"/>
            <a:ext cx="551657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are ordered by probability. Each carries the number of alumni it rests on, so a 20% match built on 44 students is visibly different from one built on 11.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here is a rule someone wrote down. Every relationship in the model was learned from what 207 real students actually did.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 · PART 2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algorithms vote. None decides alone.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2578608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26060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93852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K-Nearest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Neighbours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51560" y="26700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D2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 = 15, cosine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051560" y="2990088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students who answered most like you.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51560" y="399592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weight 2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48456" y="1755648"/>
            <a:ext cx="2578608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648456" y="1755648"/>
            <a:ext cx="50292" cy="26060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5" name="Text 13"/>
          <p:cNvSpPr/>
          <p:nvPr/>
        </p:nvSpPr>
        <p:spPr>
          <a:xfrm>
            <a:off x="3922776" y="193852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Regression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922776" y="26700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balanced classes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922776" y="2990088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which single answers push toward which field.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922776" y="399592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weight 2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19672" y="1755648"/>
            <a:ext cx="2578608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19672" y="1755648"/>
            <a:ext cx="50292" cy="260604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1" name="Text 19"/>
          <p:cNvSpPr/>
          <p:nvPr/>
        </p:nvSpPr>
        <p:spPr>
          <a:xfrm>
            <a:off x="6793992" y="193852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Random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Forest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793992" y="26700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600 trees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793992" y="2990088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combinations — results and subject and temperament.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793992" y="399592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weight 1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9390888" y="1755648"/>
            <a:ext cx="2578608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390888" y="1755648"/>
            <a:ext cx="50292" cy="2606040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7" name="Text 25"/>
          <p:cNvSpPr/>
          <p:nvPr/>
        </p:nvSpPr>
        <p:spPr>
          <a:xfrm>
            <a:off x="9665208" y="193852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Bernoulli</a:t>
            </a:r>
            <a:endParaRPr lang="en-US" sz="17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Naive Bayes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665208" y="267004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9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alpha = 0.5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665208" y="2990088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Steadies the vote where a field has few examples.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665208" y="399592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weight 1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77240" y="4681728"/>
            <a:ext cx="10637215" cy="1051560"/>
          </a:xfrm>
          <a:prstGeom prst="rect">
            <a:avLst/>
          </a:prstGeom>
          <a:solidFill>
            <a:srgbClr val="EFEAFB"/>
          </a:solidFill>
          <a:ln w="9525">
            <a:solidFill>
              <a:srgbClr val="E3E0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69848" y="4818888"/>
            <a:ext cx="100519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Soft voting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1069848" y="5138928"/>
            <a:ext cx="100519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model returns a probability per field, and the four are averaged with equal weight. A model that is confidently wrong gets outvoted — which is the point. Scored with repeated stratified cross-validation: five folds, five repeats, never a single split.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 · IN CODE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Steps 1 and 3, as they are actually written.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77240" y="1737360"/>
            <a:ext cx="513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1 — encode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029968"/>
            <a:ext cx="513572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6D2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services/ml/encode.py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block of the vector per question. A categorical answer sets one position to 1; the 1–5 comfort rating is scaled into the same range. An unseen option contributes zeros rather than raising, so the rest of the answers still predict.</a:t>
            </a:r>
            <a:endParaRPr lang="en-US" sz="950" dirty="0"/>
          </a:p>
        </p:txBody>
      </p:sp>
      <p:pic>
        <p:nvPicPr>
          <p:cNvPr id="9" name="Image 0" descr="Source code: encode_answers in services/ml/encode.p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4117" y="2889504"/>
            <a:ext cx="4061973" cy="305409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278728" y="1737360"/>
            <a:ext cx="513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3 — vote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278728" y="2029968"/>
            <a:ext cx="513572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950" dirty="0">
                <a:solidFill>
                  <a:srgbClr val="6D2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ml/train.py 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models are declared with their tuned parameters and combined under soft voting with equal weights, so the ranking is an average of four probability distributions rather than a majority vote on four separate answers.</a:t>
            </a:r>
            <a:endParaRPr lang="en-US" sz="950" dirty="0"/>
          </a:p>
        </p:txBody>
      </p:sp>
      <p:pic>
        <p:nvPicPr>
          <p:cNvPr id="12" name="Image 1" descr="Source code: build_estimator in ml/train.p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8" y="2889504"/>
            <a:ext cx="5135728" cy="250964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extracts are rendered from the repository at build time, so a slide cannot show code the project no longer contains.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 · IN CODE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4, where the two prediction paths split.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77240" y="17373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4 — marginalise</a:t>
            </a:r>
            <a:endParaRPr lang="en-US" sz="1500" dirty="0"/>
          </a:p>
        </p:txBody>
      </p:sp>
      <p:pic>
        <p:nvPicPr>
          <p:cNvPr id="8" name="Image 0" descr="Source code: predict in services/ml/index.p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029968"/>
            <a:ext cx="5120640" cy="331059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263640" y="1737360"/>
            <a:ext cx="5150815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263640" y="1737360"/>
            <a:ext cx="50292" cy="129844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1" name="Text 8"/>
          <p:cNvSpPr/>
          <p:nvPr/>
        </p:nvSpPr>
        <p:spPr>
          <a:xfrm>
            <a:off x="6537960" y="1874520"/>
            <a:ext cx="4602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function, two paths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537960" y="2212848"/>
            <a:ext cx="460217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57 is the whole branch. A student who has named a pre-U route is encoded once and passed straight through the ensemble — the 71.5% path.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63640" y="3145536"/>
            <a:ext cx="5150815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63640" y="3145536"/>
            <a:ext cx="50292" cy="1298448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5" name="Text 12"/>
          <p:cNvSpPr/>
          <p:nvPr/>
        </p:nvSpPr>
        <p:spPr>
          <a:xfrm>
            <a:off x="6537960" y="3282696"/>
            <a:ext cx="4602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Marginalised, not guessed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537960" y="3621024"/>
            <a:ext cx="460217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else-branch predicts once for every route in the spec and averages the distributions, weighted by how common each route is in the corpus. Nothing is imputed — the uncertainty is carried through the arithmetic.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263640" y="4553712"/>
            <a:ext cx="5150815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263640" y="4553712"/>
            <a:ext cx="50292" cy="1298448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6537960" y="4690872"/>
            <a:ext cx="4602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flag the interface reads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6537960" y="5029200"/>
            <a:ext cx="460217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response carries marginalised: true, which is what the results page turns into a visible notice. A student is told which of the two paths produced their shortlist.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services/ml/index.py — the model service, called over HTTP. The application never imports the model.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 · PART 3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 model, run by hand.</a:t>
            </a:r>
            <a:endParaRPr lang="en-US" sz="3200" dirty="0"/>
          </a:p>
        </p:txBody>
      </p:sp>
      <p:pic>
        <p:nvPicPr>
          <p:cNvPr id="7" name="Image 0" descr="/admin/algorithm-tester — posted to the live ML service, nothing stor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55648"/>
            <a:ext cx="6309360" cy="365278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77240" y="5472443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/admin/algorithm-tester — posted to the live ML service, nothing stored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7406640" y="1755648"/>
            <a:ext cx="4007815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406640" y="1755648"/>
            <a:ext cx="50292" cy="132588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0" y="1892808"/>
            <a:ext cx="3459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mock-up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680960" y="2231136"/>
            <a:ext cx="345917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tester posts to the same /api/ml/predict endpoint the questions page uses, and prints the raw ranked probabilities before the interface rounds or annotates anything.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406640" y="3200400"/>
            <a:ext cx="4007815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406640" y="3200400"/>
            <a:ext cx="50292" cy="13258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0" y="3337560"/>
            <a:ext cx="3459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shape of a real answer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7680960" y="3675888"/>
            <a:ext cx="345917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technical-stream preset returns Computer Science at 68%, Business at 19%, then a long tail under 5%. The top three carry the mass; the rest is reported as near-zero rather than padded.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406640" y="4645152"/>
            <a:ext cx="4007815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406640" y="4645152"/>
            <a:ext cx="50292" cy="1325880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0" y="4782312"/>
            <a:ext cx="34591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Marginalised, and it says so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680960" y="5120640"/>
            <a:ext cx="345917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badge on the output records that no pre-U route was given, so the prediction is an average across all five routes, weighted by how common each is, rather than a guess at which one the student will take.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version is stamped on every run. A prediction made against an older artefact can be told apart from one made after a retrain.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 · SCOPE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is, in plain terms.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5176876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12344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8928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is a comparison, not a verdict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51560" y="2231136"/>
            <a:ext cx="462823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 is “students who answered like you most often chose this”. The model has no opinion about what anyone should do, and the interface never phrases it as advice.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77240" y="3127248"/>
            <a:ext cx="5176876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3127248"/>
            <a:ext cx="50292" cy="12344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32644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is classification, not a score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51560" y="3602736"/>
            <a:ext cx="462823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aptitude number and no ranking of students. The model picks among ten fields; it never rates the person.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7240" y="4498848"/>
            <a:ext cx="5176876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4498848"/>
            <a:ext cx="50292" cy="12344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46360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Top-3, because that is the honest unit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51560" y="4974336"/>
            <a:ext cx="462823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answer would overstate the certainty available from 207 people. Three keeps the shortlist useful and truthful.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7580" y="1755648"/>
            <a:ext cx="5176876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37580" y="1755648"/>
            <a:ext cx="50292" cy="123444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1" name="Text 19"/>
          <p:cNvSpPr/>
          <p:nvPr/>
        </p:nvSpPr>
        <p:spPr>
          <a:xfrm>
            <a:off x="6511900" y="18928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personality test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511900" y="2231136"/>
            <a:ext cx="462823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inferred about character. The questions ask what someone did and what they enjoy, and the answers are matched to outcomes.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237580" y="3127248"/>
            <a:ext cx="5176876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37580" y="3127248"/>
            <a:ext cx="50292" cy="123444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5" name="Text 23"/>
          <p:cNvSpPr/>
          <p:nvPr/>
        </p:nvSpPr>
        <p:spPr>
          <a:xfrm>
            <a:off x="6511900" y="32644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prediction of success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511900" y="3602736"/>
            <a:ext cx="462823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says where similar students went, not how well anyone will do there. It has no data on outcomes beyond satisfaction.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237580" y="4498848"/>
            <a:ext cx="5176876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237580" y="4498848"/>
            <a:ext cx="50292" cy="123444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9" name="Text 27"/>
          <p:cNvSpPr/>
          <p:nvPr/>
        </p:nvSpPr>
        <p:spPr>
          <a:xfrm>
            <a:off x="6511900" y="46360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substitute for a counsellor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511900" y="4974336"/>
            <a:ext cx="462823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95"/>
              </a:lnSpc>
              <a:buNone/>
            </a:pPr>
            <a:r>
              <a:rPr lang="en-US" sz="11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starting shortlist backed by evidence, meant to inform a conversation rather than replace one.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boundaries is enforced in the product copy, not just stated here — the results page never uses the word “should”.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ENGINEERING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data is 207 teenagers. It is treated that way.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5943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69494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755648"/>
            <a:ext cx="1783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k-anonymity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916936" y="1755648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field with fewer than 10 students publishes no statistics at all. It says so plainly rather than showing a number.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77240" y="2468880"/>
            <a:ext cx="5943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2468880"/>
            <a:ext cx="50292" cy="69494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2468880"/>
            <a:ext cx="1783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 banding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916936" y="2468880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sizes appear as ranges — 10 to 19, 20 to 49 — never exact counts, so two pages cannot be subtracted.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77240" y="3182112"/>
            <a:ext cx="5943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3182112"/>
            <a:ext cx="50292" cy="69494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3182112"/>
            <a:ext cx="1783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Refresh gating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16936" y="3182112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aggregates only move once at least three rows have changed, closing the temporal-differencing attack.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77240" y="3895344"/>
            <a:ext cx="5943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3895344"/>
            <a:ext cx="50292" cy="69494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1" name="Text 19"/>
          <p:cNvSpPr/>
          <p:nvPr/>
        </p:nvSpPr>
        <p:spPr>
          <a:xfrm>
            <a:off x="1051560" y="3895344"/>
            <a:ext cx="1783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Row Level Security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916936" y="3895344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can read only their own responses, enforced in Postgres — so an application bug cannot leak the rest.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77240" y="4608576"/>
            <a:ext cx="5943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4608576"/>
            <a:ext cx="50292" cy="694944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5" name="Text 23"/>
          <p:cNvSpPr/>
          <p:nvPr/>
        </p:nvSpPr>
        <p:spPr>
          <a:xfrm>
            <a:off x="1051560" y="4608576"/>
            <a:ext cx="1783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Locked at the grant layer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916936" y="4608576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routes are guarded in the app and the tables are locked by database privilege. One is convenience; the other is the control.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77240" y="5321808"/>
            <a:ext cx="5943600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77240" y="5321808"/>
            <a:ext cx="50292" cy="694944"/>
          </a:xfrm>
          <a:prstGeom prst="rect">
            <a:avLst/>
          </a:prstGeom>
          <a:solidFill>
            <a:srgbClr val="1F7A5A"/>
          </a:solidFill>
          <a:ln/>
        </p:spPr>
      </p:sp>
      <p:sp>
        <p:nvSpPr>
          <p:cNvPr id="29" name="Text 27"/>
          <p:cNvSpPr/>
          <p:nvPr/>
        </p:nvSpPr>
        <p:spPr>
          <a:xfrm>
            <a:off x="1051560" y="5321808"/>
            <a:ext cx="1783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account is theirs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916936" y="5321808"/>
            <a:ext cx="3566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email and password are the student’s to change, and deleting the account removes the responses and predictions.</a:t>
            </a:r>
            <a:endParaRPr lang="en-US" sz="950" dirty="0"/>
          </a:p>
        </p:txBody>
      </p:sp>
      <p:pic>
        <p:nvPicPr>
          <p:cNvPr id="31" name="Image 0" descr="/explore/humanities-social-sciences — 7 students, so nothing is publish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1755648"/>
            <a:ext cx="3977640" cy="3725891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7086600" y="5545547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/explore/humanities-social-sciences — 7 students, so nothing is published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Suppression, banding and the refresh gate each have a test that fails if a published number becomes more precise than it should be.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CONSOLE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sections, behind a role flag.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64922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6035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69848" y="1755648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Overview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474720" y="175564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counts, recent activity, and where students drop off.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7240" y="2423160"/>
            <a:ext cx="64922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77240" y="2423160"/>
            <a:ext cx="50292" cy="6035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3" name="Text 11"/>
          <p:cNvSpPr/>
          <p:nvPr/>
        </p:nvSpPr>
        <p:spPr>
          <a:xfrm>
            <a:off x="1069848" y="2423160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Response Charts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3474720" y="242316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question summarised as a distribution, Google-Forms style.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77240" y="3090672"/>
            <a:ext cx="64922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3090672"/>
            <a:ext cx="50292" cy="6035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7" name="Text 15"/>
          <p:cNvSpPr/>
          <p:nvPr/>
        </p:nvSpPr>
        <p:spPr>
          <a:xfrm>
            <a:off x="1069848" y="3090672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Survey Data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474720" y="3090672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the model learns from, searchable and sortable.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" y="3758184"/>
            <a:ext cx="64922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3758184"/>
            <a:ext cx="50292" cy="6035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1" name="Text 19"/>
          <p:cNvSpPr/>
          <p:nvPr/>
        </p:nvSpPr>
        <p:spPr>
          <a:xfrm>
            <a:off x="1069848" y="3758184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 Responses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3474720" y="3758184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submission with the prediction it produced, opened row by row.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77240" y="4425696"/>
            <a:ext cx="64922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4425696"/>
            <a:ext cx="50292" cy="6035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5" name="Text 23"/>
          <p:cNvSpPr/>
          <p:nvPr/>
        </p:nvSpPr>
        <p:spPr>
          <a:xfrm>
            <a:off x="1069848" y="4425696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People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3474720" y="4425696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Accounts, display names and who has admin access.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77240" y="5093208"/>
            <a:ext cx="64922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77240" y="5093208"/>
            <a:ext cx="50292" cy="60350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9" name="Text 27"/>
          <p:cNvSpPr/>
          <p:nvPr/>
        </p:nvSpPr>
        <p:spPr>
          <a:xfrm>
            <a:off x="1069848" y="5093208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Algorithm Tester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3474720" y="5093208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answers by hand and watch the model rank them live.</a:t>
            </a:r>
            <a:endParaRPr lang="en-US" sz="1050" dirty="0"/>
          </a:p>
        </p:txBody>
      </p:sp>
      <p:pic>
        <p:nvPicPr>
          <p:cNvPr id="31" name="Image 0" descr="/admin/response-char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755648"/>
            <a:ext cx="3776472" cy="2627111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7635240" y="4446767"/>
            <a:ext cx="3776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3A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/admin/response-charts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635240" y="4754880"/>
            <a:ext cx="3779215" cy="1572768"/>
          </a:xfrm>
          <a:prstGeom prst="rect">
            <a:avLst/>
          </a:prstGeom>
          <a:solidFill>
            <a:srgbClr val="1B1830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7927848" y="4882896"/>
            <a:ext cx="31939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Access control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7927848" y="5212080"/>
            <a:ext cx="3193999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CF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is a discreet Admin button in the site footer — present for an admin, absent from the page entirely for everyone else, not merely hidden with CSS. Verified against production: the demo student account is redirected away from every admin route.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AND VERIFICATION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has actually been proven.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2578608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132588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892808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6D28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370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1051560" y="2606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tests passing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648456" y="1755648"/>
            <a:ext cx="2578608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48456" y="1755648"/>
            <a:ext cx="50292" cy="13258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3" name="Text 11"/>
          <p:cNvSpPr/>
          <p:nvPr/>
        </p:nvSpPr>
        <p:spPr>
          <a:xfrm>
            <a:off x="3922776" y="1892808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3922776" y="2606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tests passing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519672" y="1755648"/>
            <a:ext cx="2578608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519672" y="1755648"/>
            <a:ext cx="50292" cy="13258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7" name="Text 15"/>
          <p:cNvSpPr/>
          <p:nvPr/>
        </p:nvSpPr>
        <p:spPr>
          <a:xfrm>
            <a:off x="6793992" y="1892808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106</a:t>
            </a:r>
            <a:endParaRPr lang="en-US" sz="3800" dirty="0"/>
          </a:p>
        </p:txBody>
      </p:sp>
      <p:sp>
        <p:nvSpPr>
          <p:cNvPr id="18" name="Text 16"/>
          <p:cNvSpPr/>
          <p:nvPr/>
        </p:nvSpPr>
        <p:spPr>
          <a:xfrm>
            <a:off x="6793992" y="2606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390888" y="1755648"/>
            <a:ext cx="2578608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90888" y="1755648"/>
            <a:ext cx="50292" cy="1325880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1" name="Text 19"/>
          <p:cNvSpPr/>
          <p:nvPr/>
        </p:nvSpPr>
        <p:spPr>
          <a:xfrm>
            <a:off x="9665208" y="1892808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A93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3800" dirty="0"/>
          </a:p>
        </p:txBody>
      </p:sp>
      <p:sp>
        <p:nvSpPr>
          <p:cNvPr id="22" name="Text 20"/>
          <p:cNvSpPr/>
          <p:nvPr/>
        </p:nvSpPr>
        <p:spPr>
          <a:xfrm>
            <a:off x="9665208" y="2606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migrations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77240" y="3355848"/>
            <a:ext cx="5176876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77240" y="3355848"/>
            <a:ext cx="50292" cy="102412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5" name="Text 23"/>
          <p:cNvSpPr/>
          <p:nvPr/>
        </p:nvSpPr>
        <p:spPr>
          <a:xfrm>
            <a:off x="1051560" y="34930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0"/>
              </a:lnSpc>
              <a:buNone/>
            </a:pPr>
            <a:r>
              <a:rPr lang="en-US" sz="15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Encoder parity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1051560" y="3831336"/>
            <a:ext cx="46282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Fixture tests pin the JavaScript encoder to the Python one, so the browser and the model can never disagree about what a student said.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37580" y="3355848"/>
            <a:ext cx="5176876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237580" y="3355848"/>
            <a:ext cx="50292" cy="102412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29" name="Text 27"/>
          <p:cNvSpPr/>
          <p:nvPr/>
        </p:nvSpPr>
        <p:spPr>
          <a:xfrm>
            <a:off x="6511900" y="349300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0"/>
              </a:lnSpc>
              <a:buNone/>
            </a:pPr>
            <a:r>
              <a:rPr lang="en-US" sz="15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Privacy boundaries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6511900" y="3831336"/>
            <a:ext cx="46282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Suppression, banding, and the refresh gate each have tests that fail if a published number becomes more precise than it should be.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77240" y="4544568"/>
            <a:ext cx="5176876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77240" y="4544568"/>
            <a:ext cx="50292" cy="102412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3" name="Text 31"/>
          <p:cNvSpPr/>
          <p:nvPr/>
        </p:nvSpPr>
        <p:spPr>
          <a:xfrm>
            <a:off x="1051560" y="468172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0"/>
              </a:lnSpc>
              <a:buNone/>
            </a:pPr>
            <a:r>
              <a:rPr lang="en-US" sz="15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Role separation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1051560" y="5020056"/>
            <a:ext cx="46282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further 13 tests drive the real production site. They are skipped, not silently passed, when no production credentials are present.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37580" y="4544568"/>
            <a:ext cx="5176876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237580" y="4544568"/>
            <a:ext cx="50292" cy="102412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1900" y="4681728"/>
            <a:ext cx="46282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60"/>
              </a:lnSpc>
              <a:buNone/>
            </a:pPr>
            <a:r>
              <a:rPr lang="en-US" sz="155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journey</a:t>
            </a:r>
            <a:endParaRPr lang="en-US" sz="1550" dirty="0"/>
          </a:p>
        </p:txBody>
      </p:sp>
      <p:sp>
        <p:nvSpPr>
          <p:cNvPr id="38" name="Text 36"/>
          <p:cNvSpPr/>
          <p:nvPr/>
        </p:nvSpPr>
        <p:spPr>
          <a:xfrm>
            <a:off x="6511900" y="5020056"/>
            <a:ext cx="46282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through to a stored result, driven in a real browser.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Re-derive rather than trust: npm test · python -m pytest · ls supabase/migrations/*.sql. 382 JavaScript tests are defined; 370 run without production credentials.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data and the model actually showed.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34290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178308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892808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corpus is uneven, and the product admits it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51560" y="2414016"/>
            <a:ext cx="28803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counts run from 44 down to 7. Two fields sit below the k = 10 threshold and publish nothing at all rather than a statistic drawn from single figures.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89704" y="1755648"/>
            <a:ext cx="34290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89704" y="1755648"/>
            <a:ext cx="50292" cy="178308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3" name="Text 11"/>
          <p:cNvSpPr/>
          <p:nvPr/>
        </p:nvSpPr>
        <p:spPr>
          <a:xfrm>
            <a:off x="4764024" y="1892808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Satisfaction is not uniform, so it is published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764024" y="2414016"/>
            <a:ext cx="28803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&amp; Communication averages 4.61 of 5 (100% rating 4 or 5); Engineering averages 2.83 (39%). Every match carries its own satisfaction figure next to the percentage.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02168" y="1755648"/>
            <a:ext cx="34290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02168" y="1755648"/>
            <a:ext cx="50292" cy="17830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7" name="Text 15"/>
          <p:cNvSpPr/>
          <p:nvPr/>
        </p:nvSpPr>
        <p:spPr>
          <a:xfrm>
            <a:off x="8476488" y="1892808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Staying in your SPM stream does not predict happiness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76488" y="2414016"/>
            <a:ext cx="28803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3.45 of 5 against unrelated 3.80. The stream alone is a poor guide, which is why the model matches on all ten answers rather than routing by stream.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" y="3721608"/>
            <a:ext cx="34290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3721608"/>
            <a:ext cx="50292" cy="1783080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1" name="Text 19"/>
          <p:cNvSpPr/>
          <p:nvPr/>
        </p:nvSpPr>
        <p:spPr>
          <a:xfrm>
            <a:off x="1051560" y="3858768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Accuracy is measured, not advertised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51560" y="4379976"/>
            <a:ext cx="28803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Top-3 accuracy is 71.5% with a stated pre-U route and 63.7% without, by repeated stratified cross-validation. Both are re-runnable from ml/measure_paths.py; neither is published in the product.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489704" y="3721608"/>
            <a:ext cx="34290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489704" y="3721608"/>
            <a:ext cx="50292" cy="1783080"/>
          </a:xfrm>
          <a:prstGeom prst="rect">
            <a:avLst/>
          </a:prstGeom>
          <a:solidFill>
            <a:srgbClr val="1F7A5A"/>
          </a:solidFill>
          <a:ln/>
        </p:spPr>
      </p:sp>
      <p:sp>
        <p:nvSpPr>
          <p:cNvPr id="25" name="Text 23"/>
          <p:cNvSpPr/>
          <p:nvPr/>
        </p:nvSpPr>
        <p:spPr>
          <a:xfrm>
            <a:off x="4764024" y="3858768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honest unit is three fields, not one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764024" y="4379976"/>
            <a:ext cx="28803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n = 207 the confidence interval is about six points. A single named field would claim a precision the sample cannot support.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02168" y="3721608"/>
            <a:ext cx="34290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202168" y="3721608"/>
            <a:ext cx="50292" cy="1783080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29" name="Text 27"/>
          <p:cNvSpPr/>
          <p:nvPr/>
        </p:nvSpPr>
        <p:spPr>
          <a:xfrm>
            <a:off x="8476488" y="3858768"/>
            <a:ext cx="2880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80"/>
              </a:lnSpc>
              <a:buNone/>
            </a:pPr>
            <a:r>
              <a:rPr lang="en-US" sz="14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published number is traceable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476488" y="4379976"/>
            <a:ext cx="288036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figures come from decks/describe_corpus.py, accuracy from ml/measure_paths.py, counts from the test runners — all committed, all re-runnable.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descriptive findings above are what justify the design decisions on the previous slides — they were not written to fit them.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7744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&amp; data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analysis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spc="40" kern="0" dirty="0">
                <a:solidFill>
                  <a:srgbClr val="9A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pPr indent="0" marL="0">
              <a:buNone/>
            </a:pPr>
            <a:r>
              <a:rPr lang="en-US" sz="850" dirty="0">
                <a:solidFill>
                  <a:srgbClr val="E3E0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indent="0" marL="0">
              <a:buNone/>
            </a:pPr>
            <a:r>
              <a:rPr lang="en-US" sz="850" b="1" spc="4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777240" y="512064"/>
            <a:ext cx="10637215" cy="10973"/>
          </a:xfrm>
          <a:prstGeom prst="rect">
            <a:avLst/>
          </a:prstGeom>
          <a:solidFill>
            <a:srgbClr val="E3E0EC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722376"/>
            <a:ext cx="100584" cy="100584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5" name="Text 3"/>
          <p:cNvSpPr/>
          <p:nvPr/>
        </p:nvSpPr>
        <p:spPr>
          <a:xfrm>
            <a:off x="1014984" y="630936"/>
            <a:ext cx="103994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77240" y="969264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00"/>
              </a:lnSpc>
              <a:buNone/>
            </a:pPr>
            <a:r>
              <a:rPr lang="en-US" sz="32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207 students cannot yet tell us.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77240" y="1755648"/>
            <a:ext cx="342900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755648"/>
            <a:ext cx="50292" cy="169164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189280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Grow the corpus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51560" y="2231136"/>
            <a:ext cx="28803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sample is the binding constraint on everything else. At roughly a thousand rows the two suppressed fields become publishable and the confidence interval narrows from about six points.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89704" y="1755648"/>
            <a:ext cx="342900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89704" y="1755648"/>
            <a:ext cx="50292" cy="169164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3" name="Text 11"/>
          <p:cNvSpPr/>
          <p:nvPr/>
        </p:nvSpPr>
        <p:spPr>
          <a:xfrm>
            <a:off x="4764024" y="189280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Automate the retrain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764024" y="2231136"/>
            <a:ext cx="28803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manual gate exists because a small batch can move accuracy by more than the noise floor. Once the corpus is large enough that it cannot, the export-refit-redeploy chain can run unattended.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02168" y="1755648"/>
            <a:ext cx="342900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02168" y="1755648"/>
            <a:ext cx="50292" cy="169164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7" name="Text 15"/>
          <p:cNvSpPr/>
          <p:nvPr/>
        </p:nvSpPr>
        <p:spPr>
          <a:xfrm>
            <a:off x="8476488" y="189280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Outcomes beyond satisfaction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476488" y="2231136"/>
            <a:ext cx="28803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survey knows whether a student is glad of the choice, and nothing about employment, earnings or time to graduate. Those are the questions students ask next.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" y="3630168"/>
            <a:ext cx="342900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3630168"/>
            <a:ext cx="50292" cy="1691640"/>
          </a:xfrm>
          <a:prstGeom prst="rect">
            <a:avLst/>
          </a:prstGeom>
          <a:solidFill>
            <a:srgbClr val="3A93A8"/>
          </a:solidFill>
          <a:ln/>
        </p:spPr>
      </p:sp>
      <p:sp>
        <p:nvSpPr>
          <p:cNvPr id="21" name="Text 19"/>
          <p:cNvSpPr/>
          <p:nvPr/>
        </p:nvSpPr>
        <p:spPr>
          <a:xfrm>
            <a:off x="1051560" y="376732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Widen the questions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051560" y="4105656"/>
            <a:ext cx="28803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and location are the two reasons students give for a choice that the current ten questions do not capture at all.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489704" y="3630168"/>
            <a:ext cx="342900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489704" y="3630168"/>
            <a:ext cx="50292" cy="1691640"/>
          </a:xfrm>
          <a:prstGeom prst="rect">
            <a:avLst/>
          </a:prstGeom>
          <a:solidFill>
            <a:srgbClr val="1F7A5A"/>
          </a:solidFill>
          <a:ln/>
        </p:spPr>
      </p:sp>
      <p:sp>
        <p:nvSpPr>
          <p:cNvPr id="25" name="Text 23"/>
          <p:cNvSpPr/>
          <p:nvPr/>
        </p:nvSpPr>
        <p:spPr>
          <a:xfrm>
            <a:off x="4764024" y="376732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Follow the same students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764024" y="4105656"/>
            <a:ext cx="28803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Satisfaction was captured once. Re-asking a year on would show whether it holds, and would turn a snapshot into a trend.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02168" y="3630168"/>
            <a:ext cx="342900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E3E0EC"/>
            </a:solidFill>
            <a:prstDash val="solid"/>
          </a:ln>
          <a:effectLst>
            <a:outerShdw sx="100000" sy="100000" kx="0" ky="0" algn="bl" rotWithShape="0" blurRad="1270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202168" y="3630168"/>
            <a:ext cx="50292" cy="1691640"/>
          </a:xfrm>
          <a:prstGeom prst="rect">
            <a:avLst/>
          </a:prstGeom>
          <a:solidFill>
            <a:srgbClr val="9A5B12"/>
          </a:solidFill>
          <a:ln/>
        </p:spPr>
      </p:sp>
      <p:sp>
        <p:nvSpPr>
          <p:cNvPr id="29" name="Text 27"/>
          <p:cNvSpPr/>
          <p:nvPr/>
        </p:nvSpPr>
        <p:spPr>
          <a:xfrm>
            <a:off x="8476488" y="376732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1F1B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evaluation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476488" y="4105656"/>
            <a:ext cx="28803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Cross-validation measures the model against its own corpus. A held-out cohort from a different intake year would measure it against the world.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77240" y="6144768"/>
            <a:ext cx="106372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25D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on this list is blocked by the architecture. Every one of them is waiting on more students answering the same ten questions.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188720"/>
            <a:ext cx="106372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IT DEFENSIBLE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10058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says “students like you chose this.”</a:t>
            </a:r>
            <a:endParaRPr lang="en-US" sz="30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does not say “you should study this.”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77240" y="3621024"/>
            <a:ext cx="82296" cy="822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6" name="Text 4"/>
          <p:cNvSpPr/>
          <p:nvPr/>
        </p:nvSpPr>
        <p:spPr>
          <a:xfrm>
            <a:off x="1069848" y="35204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in the model is a rule someone wrote down — every relationship was learned from what 207 real students did.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7240" y="4123944"/>
            <a:ext cx="82296" cy="822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8" name="Text 6"/>
          <p:cNvSpPr/>
          <p:nvPr/>
        </p:nvSpPr>
        <p:spPr>
          <a:xfrm>
            <a:off x="1069848" y="402336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with too few students show an honest message, never an invented statistic.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" y="4626864"/>
            <a:ext cx="82296" cy="82296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1069848" y="452628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C9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on screen can be traced back to the students it came from.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77240" y="5257800"/>
            <a:ext cx="3840480" cy="18288"/>
          </a:xfrm>
          <a:prstGeom prst="rect">
            <a:avLst/>
          </a:prstGeom>
          <a:solidFill>
            <a:srgbClr val="6D28D9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544068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arah-sand.vercel.app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ARAH - System and Technical Overview</dc:title>
  <dc:subject>PptxGenJS Presentation</dc:subject>
  <dc:creator>Nuhaa Khaleeda Binti Mohd Khalid</dc:creator>
  <cp:lastModifiedBy>Nuhaa Khaleeda Binti Mohd Khalid</cp:lastModifiedBy>
  <cp:revision>1</cp:revision>
  <dcterms:created xsi:type="dcterms:W3CDTF">2026-08-02T23:58:58Z</dcterms:created>
  <dcterms:modified xsi:type="dcterms:W3CDTF">2026-08-02T23:58:58Z</dcterms:modified>
</cp:coreProperties>
</file>